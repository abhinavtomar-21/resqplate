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Professor and panel members. Today I am presenting LiveAmenity: an Intelligent Shared-Amenity Management &amp; Optimization Platform. Rather than building a traditional booking portal, LiveAmenity introduces an intelligence layer designed to observe real-time occupancy, predict crowd patterns, recommend optimal facilities based on user intent, and optimize facility usage across organizations.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the reason we selected this problem is that shared amenities exist everywhere around us in residential societies, university campuses, and office buildings. However, users are forced to make decisions blindly without knowing actual crowd levels or future availability. This leads to decision fatigue for users and severe peak-hour congestion for organizations.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current platforms, the workflow is entirely static. The system simply lists facilities and lets users click 'Book'. But traditional systems don't know real-time occupancy or crowd dynamics. They provide raw information, forcing the user to manually guess whether a facility is actually usable.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the breakdown occurs on both sides. Users experience decision fatigue and arrival frustration when facilities are unexpectedly packed. Meanwhile, organization administrators suffer from severe peak-hour bottlenecks and underutilized facilities because they lack real-time insights to balance demand.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framed the problem as a dual challenge: the User Decision Problem ('What should I use right now?') and the Organization Optimization Problem ('How do we balance facility usage?'). LiveAmenity acts as the bridge connecting user intent with organization capacity.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represents our core technical vision. Traditional systems start and end with booking. LiveAmenity shifts the paradigm to intelligent decision-making: starting from user intent, predicting crowd trajectories, and delivering smart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formally define LiveAmenity. It is a multi-tenant platform serving three primary components: the end-users who discover and check-in, the intelligence engine performing real-time analytics and predictions, and the admin dashboard for organization management.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user experience, consider this scenario: A student says 'I have 40 minutes before dinner.' Instead of checking 5 facility schedules manually, LiveAmenity evaluates activity intent, live occupancy, travel time, and crowd trends, recommending Badminton Court 2 instantly.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system architecture revolves around four continuous intelligence layers: Understand (live occupancy), Predict (crowd trends), Recommend (matching user intent), and Optimize (balancing infrastructure demand across the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get real-time occupancy data? Through verified QR check-in and check-out events. Scanning a QR code triggers an atomic update in Redis, synchronizing live occupancy. In future phases, this can easily integrate with IoT sensors or turnstiles.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Predictive analytics looks ahead 15 to 30 minutes based on historical usage and active bookings. By warning users of upcoming crowd spikes and suggesting alternatives, LiveAmenity naturally distributes user demand across all available amenities.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the complete multi-tiered system architecture. Clients interact through Web and Mobile apps, secured by Clerk and RBAC. The API gateway routes requests to domain services, backed by our Intelligence Layer and PostgreSQL/Redis storage.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LiveAmenity is built as a multi-tenant platform. A single deployment serves housing societies, universities, and corporate office parks with strict tenant data isolation, custom booking rules, and organization-specific branding.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divided into three distinct pillars: Authentication verifies user identity, Authorization enforces Role-Based Access Control (RBAC), and Organization Verification ensures that multi-tenant organizations are legitimate and verified by Super Admins.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 stack is chosen for scalability and developer velocity. Next.js handles the front-end, Node.js with TypeScript powers backend services, PostgreSQL stores relational data, and Redis handles atomic live occupancy counters.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feature set is grouped logically into four pillars: User Experience, Facility Management, Intelligence Engine, and Admin Analytics. This structure keeps features cleanly organized by user role and functional area.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LiveAmenity provides clear benefits to both users and organizations. The primary differentiator is that traditional systems are static and reactive (Manage -&gt; Book -&gt; Report), while LiveAmenity is intelligent and proactive (Observe -&gt; Predict -&gt; Recommend -&gt; Optimize).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0F172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9966960" cy="2011680"/>
          </a:xfrm>
          <a:prstGeom prst="rect">
            <a:avLst/>
          </a:prstGeom>
          <a:noFill/>
        </p:spPr>
        <p:txBody>
          <a:bodyPr wrap="square">
            <a:spAutoFit/>
          </a:bodyPr>
          <a:lstStyle/>
          <a:p>
            <a:pPr>
              <a:defRPr sz="4400" b="1">
                <a:solidFill>
                  <a:srgbClr val="3B82F6"/>
                </a:solidFill>
              </a:defRPr>
            </a:pPr>
            <a:r>
              <a:t>LIVEAMENITY</a:t>
            </a:r>
          </a:p>
          <a:p>
            <a:pPr>
              <a:defRPr sz="2200" b="1">
                <a:solidFill>
                  <a:srgbClr val="FFFFFF"/>
                </a:solidFill>
              </a:defRPr>
            </a:pPr>
            <a:r>
              <a:t>Intelligent Shared-Amenity Management &amp; Optimization Platform</a:t>
            </a:r>
          </a:p>
          <a:p>
            <a:pPr>
              <a:defRPr sz="1600" b="1">
                <a:solidFill>
                  <a:srgbClr val="06B6D4"/>
                </a:solidFill>
              </a:defRPr>
            </a:pPr>
            <a:r>
              <a:t>OBSERVE  ➔  PREDICT  ➔  RECOMMEND  ➔  OPTIMIZE</a:t>
            </a:r>
          </a:p>
        </p:txBody>
      </p:sp>
      <p:sp>
        <p:nvSpPr>
          <p:cNvPr id="5" name="Rounded Rectangle 4"/>
          <p:cNvSpPr/>
          <p:nvPr/>
        </p:nvSpPr>
        <p:spPr>
          <a:xfrm>
            <a:off x="1097280" y="3291840"/>
            <a:ext cx="1828800" cy="73152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Gym</a:t>
            </a:r>
          </a:p>
        </p:txBody>
      </p:sp>
      <p:sp>
        <p:nvSpPr>
          <p:cNvPr id="6" name="Rounded Rectangle 5"/>
          <p:cNvSpPr/>
          <p:nvPr/>
        </p:nvSpPr>
        <p:spPr>
          <a:xfrm>
            <a:off x="3063239" y="3291840"/>
            <a:ext cx="1828800" cy="73152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Swimming Pool</a:t>
            </a:r>
          </a:p>
        </p:txBody>
      </p:sp>
      <p:sp>
        <p:nvSpPr>
          <p:cNvPr id="7" name="Rounded Rectangle 6"/>
          <p:cNvSpPr/>
          <p:nvPr/>
        </p:nvSpPr>
        <p:spPr>
          <a:xfrm>
            <a:off x="5029200" y="3291840"/>
            <a:ext cx="1828800" cy="73152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Badminton Court</a:t>
            </a:r>
          </a:p>
        </p:txBody>
      </p:sp>
      <p:sp>
        <p:nvSpPr>
          <p:cNvPr id="8" name="Rounded Rectangle 7"/>
          <p:cNvSpPr/>
          <p:nvPr/>
        </p:nvSpPr>
        <p:spPr>
          <a:xfrm>
            <a:off x="6995159" y="3291840"/>
            <a:ext cx="1828800" cy="73152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Study Room</a:t>
            </a:r>
          </a:p>
        </p:txBody>
      </p:sp>
      <p:sp>
        <p:nvSpPr>
          <p:cNvPr id="9" name="Rounded Rectangle 8"/>
          <p:cNvSpPr/>
          <p:nvPr/>
        </p:nvSpPr>
        <p:spPr>
          <a:xfrm>
            <a:off x="8961119" y="3291840"/>
            <a:ext cx="1828800" cy="73152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Meeting Hall</a:t>
            </a:r>
          </a:p>
        </p:txBody>
      </p:sp>
      <p:sp>
        <p:nvSpPr>
          <p:cNvPr id="10" name="Rounded Rectangle 9"/>
          <p:cNvSpPr/>
          <p:nvPr/>
        </p:nvSpPr>
        <p:spPr>
          <a:xfrm>
            <a:off x="1097280" y="4297680"/>
            <a:ext cx="9997135"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59E0B"/>
                </a:solidFill>
              </a:defRPr>
            </a:pPr>
            <a:r>
              <a:t>ACADEMIC PROJECT PRESENTATION</a:t>
            </a:r>
          </a:p>
          <a:p>
            <a:pPr>
              <a:defRPr sz="1300">
                <a:solidFill>
                  <a:srgbClr val="94A3B8"/>
                </a:solidFill>
              </a:defRPr>
            </a:pPr>
            <a:r>
              <a:t>Presenter Name: [Student Name]  |  Register Number: [Reg. No.]</a:t>
            </a:r>
            <a:br/>
            <a:r>
              <a:t>Course / Program: [Course Name]  |  Department: [Department]</a:t>
            </a:r>
            <a:br/>
            <a:r>
              <a:t>Faculty Guide: [Professor Name]  |  Institution: [University / Institution]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WHY DID WE CHOOSE THIS PROBLEM? (MOTIVATION)</a:t>
            </a:r>
          </a:p>
        </p:txBody>
      </p:sp>
      <p:sp>
        <p:nvSpPr>
          <p:cNvPr id="5" name="Rounded Rectangle 4"/>
          <p:cNvSpPr/>
          <p:nvPr/>
        </p:nvSpPr>
        <p:spPr>
          <a:xfrm>
            <a:off x="7315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6B6D4"/>
                </a:solidFill>
              </a:defRPr>
            </a:pPr>
            <a:r>
              <a:t>Everyday Shared Facility Reality</a:t>
            </a:r>
          </a:p>
          <a:p>
            <a:pPr>
              <a:defRPr sz="1300">
                <a:solidFill>
                  <a:srgbClr val="FFFFFF"/>
                </a:solidFill>
              </a:defRPr>
            </a:pPr>
            <a:r>
              <a:t>• Shared facilities are ubiquitous across Housing Societies, Colleges, Tech Parks &amp; Corporate Offices.</a:t>
            </a:r>
          </a:p>
          <a:p>
            <a:pPr>
              <a:defRPr sz="1300">
                <a:solidFill>
                  <a:srgbClr val="FFFFFF"/>
                </a:solidFill>
              </a:defRPr>
            </a:pPr>
            <a:r>
              <a:t>• Common facilities include Gyms, Swimming Pools, Badminton Courts, Study Rooms, Conference Halls &amp; Workspaces.</a:t>
            </a:r>
          </a:p>
          <a:p>
            <a:pPr>
              <a:defRPr sz="1300">
                <a:solidFill>
                  <a:srgbClr val="FFFFFF"/>
                </a:solidFill>
              </a:defRPr>
            </a:pPr>
            <a:r>
              <a:t>• Facilities exist, but access and usage remain uncoordinated.</a:t>
            </a:r>
          </a:p>
          <a:p>
            <a:pPr>
              <a:defRPr sz="1300">
                <a:solidFill>
                  <a:srgbClr val="FFFFFF"/>
                </a:solidFill>
              </a:defRPr>
            </a:pPr>
            <a:r>
              <a:t>• Users frequently encounter sudden crowds, long wait times, or wasted trips.</a:t>
            </a:r>
          </a:p>
          <a:p>
            <a:pPr>
              <a:defRPr sz="1300">
                <a:solidFill>
                  <a:srgbClr val="FFFFFF"/>
                </a:solidFill>
              </a:defRPr>
            </a:pPr>
            <a:r>
              <a:t>• Observation: The real challenge is NOT just that facilities exist; it is deciding WHICH facility to use, WHEN to use it, and whether a BETTER ALTERNATIVE exists.</a:t>
            </a:r>
          </a:p>
        </p:txBody>
      </p:sp>
      <p:sp>
        <p:nvSpPr>
          <p:cNvPr id="6" name="Rounded Rectangle 5"/>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59E0B"/>
                </a:solidFill>
              </a:defRPr>
            </a:pPr>
            <a:r>
              <a:t>The User Decision Dilemma</a:t>
            </a:r>
          </a:p>
          <a:p>
            <a:br/>
            <a:pPr algn="ctr">
              <a:defRPr sz="1300">
                <a:solidFill>
                  <a:srgbClr val="FFFFFF"/>
                </a:solidFill>
              </a:defRPr>
            </a:pPr>
            <a:r>
              <a:t>            🏋️ GYM (Crowded?)</a:t>
            </a:r>
            <a:br/>
            <a:r>
              <a:t>                      │</a:t>
            </a:r>
            <a:br/>
            <a:r>
              <a:t>🏊 POOL ── 👤 CONFUSED USER ── 🏸 BADMINTON</a:t>
            </a:r>
            <a:br/>
            <a:r>
              <a:t>                      │</a:t>
            </a:r>
            <a:br/>
            <a:r>
              <a:t>          📚 STUDY (Full?)</a:t>
            </a:r>
            <a:br/>
            <a:br/>
          </a:p>
          <a:p>
            <a:pPr algn="ctr">
              <a:defRPr sz="1400" b="1">
                <a:solidFill>
                  <a:srgbClr val="EF4444"/>
                </a:solidFill>
              </a:defRPr>
            </a:pPr>
            <a:r>
              <a:t>TOO MANY CHOICES + LIMITED REAL-TIME INFO</a:t>
            </a:r>
            <a:br/>
            <a:r>
              <a:t>= DECISION FATIGUE &amp; UNBALANCED UTILIZATION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HOW SHARED FACILITIES ARE CURRENTLY MANAGED</a:t>
            </a:r>
          </a:p>
        </p:txBody>
      </p:sp>
      <p:sp>
        <p:nvSpPr>
          <p:cNvPr id="5" name="Rounded Rectangle 4"/>
          <p:cNvSpPr/>
          <p:nvPr/>
        </p:nvSpPr>
        <p:spPr>
          <a:xfrm>
            <a:off x="731520" y="1645920"/>
            <a:ext cx="10728655"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10332720" cy="1188720"/>
          </a:xfrm>
          <a:prstGeom prst="rect">
            <a:avLst/>
          </a:prstGeom>
          <a:noFill/>
        </p:spPr>
        <p:txBody>
          <a:bodyPr wrap="square">
            <a:spAutoFit/>
          </a:bodyPr>
          <a:lstStyle/>
          <a:p>
            <a:pPr>
              <a:defRPr sz="1400" b="1">
                <a:solidFill>
                  <a:srgbClr val="06B6D4"/>
                </a:solidFill>
              </a:defRPr>
            </a:pPr>
            <a:r>
              <a:t>TRADITIONAL SYSTEM WORKFLOW</a:t>
            </a:r>
          </a:p>
          <a:p>
            <a:pPr algn="ctr">
              <a:defRPr sz="1500" b="1">
                <a:solidFill>
                  <a:srgbClr val="FFFFFF"/>
                </a:solidFill>
              </a:defRPr>
            </a:pPr>
            <a:r>
              <a:t>USER  ➔  LOGIN  ➔  VIEW LISTING  ➔  CHECK STATIC AVAILABILITY  ➔  BOOK SLOT  ➔  VISIT  ➔  USE</a:t>
            </a:r>
          </a:p>
        </p:txBody>
      </p:sp>
      <p:sp>
        <p:nvSpPr>
          <p:cNvPr id="7" name="Rounded Rectangle 6"/>
          <p:cNvSpPr/>
          <p:nvPr/>
        </p:nvSpPr>
        <p:spPr>
          <a:xfrm>
            <a:off x="731520" y="3200400"/>
            <a:ext cx="521208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What Traditional Systems Know ✅</a:t>
            </a:r>
          </a:p>
          <a:p>
            <a:pPr>
              <a:defRPr sz="1300">
                <a:solidFill>
                  <a:srgbClr val="FFFFFF"/>
                </a:solidFill>
              </a:defRPr>
            </a:pPr>
            <a:r>
              <a:t>• Facility exists in database</a:t>
            </a:r>
          </a:p>
          <a:p>
            <a:pPr>
              <a:defRPr sz="1300">
                <a:solidFill>
                  <a:srgbClr val="FFFFFF"/>
                </a:solidFill>
              </a:defRPr>
            </a:pPr>
            <a:r>
              <a:t>• Static operating hours &amp; slots</a:t>
            </a:r>
          </a:p>
          <a:p>
            <a:pPr>
              <a:defRPr sz="1300">
                <a:solidFill>
                  <a:srgbClr val="FFFFFF"/>
                </a:solidFill>
              </a:defRPr>
            </a:pPr>
            <a:r>
              <a:t>• Basic booking record created</a:t>
            </a:r>
          </a:p>
          <a:p>
            <a:pPr>
              <a:defRPr sz="1300">
                <a:solidFill>
                  <a:srgbClr val="FFFFFF"/>
                </a:solidFill>
              </a:defRPr>
            </a:pPr>
            <a:r>
              <a:t>• User registration details</a:t>
            </a:r>
          </a:p>
        </p:txBody>
      </p:sp>
      <p:sp>
        <p:nvSpPr>
          <p:cNvPr id="8" name="Rounded Rectangle 7"/>
          <p:cNvSpPr/>
          <p:nvPr/>
        </p:nvSpPr>
        <p:spPr>
          <a:xfrm>
            <a:off x="6217920" y="3200400"/>
            <a:ext cx="521208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EF4444"/>
                </a:solidFill>
              </a:defRPr>
            </a:pPr>
            <a:r>
              <a:t>What Traditional Systems DO NOT Answer ❌</a:t>
            </a:r>
          </a:p>
          <a:p>
            <a:pPr>
              <a:defRPr sz="1300">
                <a:solidFill>
                  <a:srgbClr val="FFFFFF"/>
                </a:solidFill>
              </a:defRPr>
            </a:pPr>
            <a:r>
              <a:t>• Is the facility overcrowded right now?</a:t>
            </a:r>
          </a:p>
          <a:p>
            <a:pPr>
              <a:defRPr sz="1300">
                <a:solidFill>
                  <a:srgbClr val="FFFFFF"/>
                </a:solidFill>
              </a:defRPr>
            </a:pPr>
            <a:r>
              <a:t>• Will it become overcrowded by the time I arrive?</a:t>
            </a:r>
          </a:p>
          <a:p>
            <a:pPr>
              <a:defRPr sz="1300">
                <a:solidFill>
                  <a:srgbClr val="FFFFFF"/>
                </a:solidFill>
              </a:defRPr>
            </a:pPr>
            <a:r>
              <a:t>• Is there a better alternative nearby?</a:t>
            </a:r>
          </a:p>
          <a:p>
            <a:pPr>
              <a:defRPr sz="1300">
                <a:solidFill>
                  <a:srgbClr val="FFFFFF"/>
                </a:solidFill>
              </a:defRPr>
            </a:pPr>
            <a:r>
              <a:t>• Does this match my actual activity intention?</a:t>
            </a:r>
          </a:p>
          <a:p>
            <a:pPr>
              <a:defRPr sz="1300">
                <a:solidFill>
                  <a:srgbClr val="FFFFFF"/>
                </a:solidFill>
              </a:defRPr>
            </a:pPr>
            <a:r>
              <a:t>• What happens if users book but never show up?</a:t>
            </a:r>
          </a:p>
        </p:txBody>
      </p:sp>
      <p:sp>
        <p:nvSpPr>
          <p:cNvPr id="9" name="Rounded Rectangle 8"/>
          <p:cNvSpPr/>
          <p:nvPr/>
        </p:nvSpPr>
        <p:spPr>
          <a:xfrm>
            <a:off x="731520" y="6217920"/>
            <a:ext cx="10728655" cy="45720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THE TRADITIONAL SYSTEM ONLY PROVIDES DATA — THE USER MUST DO ALL THE INTELLECTUAL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WHERE DOES THE EXISTING PROCESS BREAK DOWN?</a:t>
            </a:r>
          </a:p>
        </p:txBody>
      </p:sp>
      <p:sp>
        <p:nvSpPr>
          <p:cNvPr id="5" name="Rounded Rectangle 4"/>
          <p:cNvSpPr/>
          <p:nvPr/>
        </p:nvSpPr>
        <p:spPr>
          <a:xfrm>
            <a:off x="731520" y="1645920"/>
            <a:ext cx="521208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59E0B"/>
                </a:solidFill>
              </a:defRPr>
            </a:pPr>
            <a:r>
              <a:t>👨‍💻 USER BOTTLENECKS</a:t>
            </a:r>
          </a:p>
          <a:p>
            <a:pPr>
              <a:defRPr sz="1200">
                <a:solidFill>
                  <a:srgbClr val="FFFFFF"/>
                </a:solidFill>
              </a:defRPr>
            </a:pPr>
            <a:r>
              <a:t>• Manual Facility Comparison: Users must search multiple amenities manually.</a:t>
            </a:r>
          </a:p>
          <a:p>
            <a:pPr>
              <a:defRPr sz="1200">
                <a:solidFill>
                  <a:srgbClr val="FFFFFF"/>
                </a:solidFill>
              </a:defRPr>
            </a:pPr>
            <a:r>
              <a:t>• Static Availability Illusion: A slot shows 'Available' even if 50 people are already physically inside.</a:t>
            </a:r>
          </a:p>
          <a:p>
            <a:pPr>
              <a:defRPr sz="1200">
                <a:solidFill>
                  <a:srgbClr val="FFFFFF"/>
                </a:solidFill>
              </a:defRPr>
            </a:pPr>
            <a:r>
              <a:t>• No Crowd Prediction: Zero visibility into future crowd spikes.</a:t>
            </a:r>
          </a:p>
          <a:p>
            <a:pPr>
              <a:defRPr sz="1200">
                <a:solidFill>
                  <a:srgbClr val="FFFFFF"/>
                </a:solidFill>
              </a:defRPr>
            </a:pPr>
            <a:r>
              <a:t>• No Intelligent Alternatives: No suggestions when preferred facility is congested.</a:t>
            </a:r>
          </a:p>
          <a:p>
            <a:pPr>
              <a:defRPr sz="1200">
                <a:solidFill>
                  <a:srgbClr val="FFFFFF"/>
                </a:solidFill>
              </a:defRPr>
            </a:pPr>
            <a:r>
              <a:t>• No-Show Wasted Bookings: Slots locked by missing users.</a:t>
            </a:r>
          </a:p>
          <a:p>
            <a:pPr>
              <a:defRPr sz="1200">
                <a:solidFill>
                  <a:srgbClr val="FFFFFF"/>
                </a:solidFill>
              </a:defRPr>
            </a:pPr>
            <a:r>
              <a:t>• Decision Fatigue: Frustration leading to reduced amenity usage.</a:t>
            </a:r>
          </a:p>
        </p:txBody>
      </p:sp>
      <p:sp>
        <p:nvSpPr>
          <p:cNvPr id="6" name="Rounded Rectangle 5"/>
          <p:cNvSpPr/>
          <p:nvPr/>
        </p:nvSpPr>
        <p:spPr>
          <a:xfrm>
            <a:off x="6217920" y="1645920"/>
            <a:ext cx="521208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6B6D4"/>
                </a:solidFill>
              </a:defRPr>
            </a:pPr>
            <a:r>
              <a:t>🏢 ORGANIZATION BOTTLENECKS</a:t>
            </a:r>
          </a:p>
          <a:p>
            <a:pPr>
              <a:defRPr sz="1200">
                <a:solidFill>
                  <a:srgbClr val="FFFFFF"/>
                </a:solidFill>
              </a:defRPr>
            </a:pPr>
            <a:r>
              <a:t>• Peak-Hour Congestion: Severe overcrowding at peak hours while other facilities sit empty.</a:t>
            </a:r>
          </a:p>
          <a:p>
            <a:pPr>
              <a:defRPr sz="1200">
                <a:solidFill>
                  <a:srgbClr val="FFFFFF"/>
                </a:solidFill>
              </a:defRPr>
            </a:pPr>
            <a:r>
              <a:t>• Uneven Utilization: Gym at 100% capacity, Yoga room at 10% capacity.</a:t>
            </a:r>
          </a:p>
          <a:p>
            <a:pPr>
              <a:defRPr sz="1200">
                <a:solidFill>
                  <a:srgbClr val="FFFFFF"/>
                </a:solidFill>
              </a:defRPr>
            </a:pPr>
            <a:r>
              <a:t>• Unmonitored No-Shows: Inability to detect or penalize ghost reservations.</a:t>
            </a:r>
          </a:p>
          <a:p>
            <a:pPr>
              <a:defRPr sz="1200">
                <a:solidFill>
                  <a:srgbClr val="FFFFFF"/>
                </a:solidFill>
              </a:defRPr>
            </a:pPr>
            <a:r>
              <a:t>• Lack of Real-Time Visibility: Management has no live operational metrics.</a:t>
            </a:r>
          </a:p>
          <a:p>
            <a:pPr>
              <a:defRPr sz="1200">
                <a:solidFill>
                  <a:srgbClr val="FFFFFF"/>
                </a:solidFill>
              </a:defRPr>
            </a:pPr>
            <a:r>
              <a:t>• Purely Historical Reporting: Analytics only show past events, providing no active control.</a:t>
            </a:r>
          </a:p>
          <a:p>
            <a:pPr>
              <a:defRPr sz="1200">
                <a:solidFill>
                  <a:srgbClr val="FFFFFF"/>
                </a:solidFill>
              </a:defRPr>
            </a:pPr>
            <a:r>
              <a:t>• Inefficient Infrastructure Planning: Hard to justify capacity expansions.</a:t>
            </a:r>
          </a:p>
        </p:txBody>
      </p:sp>
      <p:sp>
        <p:nvSpPr>
          <p:cNvPr id="7" name="Rounded Rectangle 6"/>
          <p:cNvSpPr/>
          <p:nvPr/>
        </p:nvSpPr>
        <p:spPr>
          <a:xfrm>
            <a:off x="731520" y="6126480"/>
            <a:ext cx="10728655" cy="5486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6172200"/>
            <a:ext cx="10515600" cy="457200"/>
          </a:xfrm>
          <a:prstGeom prst="rect">
            <a:avLst/>
          </a:prstGeom>
          <a:noFill/>
        </p:spPr>
        <p:txBody>
          <a:bodyPr wrap="none">
            <a:spAutoFit/>
          </a:bodyPr>
          <a:lstStyle/>
          <a:p>
            <a:pPr algn="ctr">
              <a:defRPr sz="1300" b="1">
                <a:solidFill>
                  <a:srgbClr val="F59E0B"/>
                </a:solidFill>
              </a:defRPr>
            </a:pPr>
            <a:r>
              <a:t>CORE PROBLEM: Users struggle to CHOOSE intelligently  |  Organizations struggle to OPTIMIZE resource utilization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THE DUAL PROBLEM STATEMENT</a:t>
            </a:r>
          </a:p>
        </p:txBody>
      </p:sp>
      <p:sp>
        <p:nvSpPr>
          <p:cNvPr id="5" name="Rounded Rectangle 4"/>
          <p:cNvSpPr/>
          <p:nvPr/>
        </p:nvSpPr>
        <p:spPr>
          <a:xfrm>
            <a:off x="731520" y="1645920"/>
            <a:ext cx="5212080" cy="4206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6B6D4"/>
                </a:solidFill>
              </a:defRPr>
            </a:pPr>
            <a:r>
              <a:t>1. THE USER DECISION PROBLEM</a:t>
            </a:r>
          </a:p>
          <a:p>
            <a:pPr>
              <a:defRPr sz="1400" b="1">
                <a:solidFill>
                  <a:srgbClr val="F59E0B"/>
                </a:solidFill>
              </a:defRPr>
            </a:pPr>
            <a:r>
              <a:t>“Which facility should I use right now for my specific activity, given current crowd, travel time, and future congestion?”</a:t>
            </a:r>
          </a:p>
          <a:p>
            <a:br/>
            <a:pPr>
              <a:defRPr sz="1300">
                <a:solidFill>
                  <a:srgbClr val="FFFFFF"/>
                </a:solidFill>
              </a:defRPr>
            </a:pPr>
            <a:r>
              <a:t>• Focus: Personal efficiency, minimal wait time, optimal activity experience.</a:t>
            </a:r>
            <a:br/>
            <a:r>
              <a:t>• Barrier: Fragmented static data forces manual trial-and-error.</a:t>
            </a:r>
          </a:p>
        </p:txBody>
      </p:sp>
      <p:sp>
        <p:nvSpPr>
          <p:cNvPr id="6" name="Rounded Rectangle 5"/>
          <p:cNvSpPr/>
          <p:nvPr/>
        </p:nvSpPr>
        <p:spPr>
          <a:xfrm>
            <a:off x="6217920" y="1645920"/>
            <a:ext cx="5212080" cy="4206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2. THE ORGANIZATION OPTIMIZATION PROBLEM</a:t>
            </a:r>
          </a:p>
          <a:p>
            <a:pPr>
              <a:defRPr sz="1400" b="1">
                <a:solidFill>
                  <a:srgbClr val="F59E0B"/>
                </a:solidFill>
              </a:defRPr>
            </a:pPr>
            <a:r>
              <a:t>“How can we distribute amenity demand dynamically to maximize utilization and eliminate congestion?”</a:t>
            </a:r>
          </a:p>
          <a:p>
            <a:br/>
            <a:pPr>
              <a:defRPr sz="1300">
                <a:solidFill>
                  <a:srgbClr val="FFFFFF"/>
                </a:solidFill>
              </a:defRPr>
            </a:pPr>
            <a:r>
              <a:t>• Focus: Infrastructure efficiency, demand smoothing, operational monitoring.</a:t>
            </a:r>
            <a:br/>
            <a:r>
              <a:t>• Barrier: Lack of active feedback loops and predictive control tools.</a:t>
            </a:r>
          </a:p>
        </p:txBody>
      </p:sp>
      <p:sp>
        <p:nvSpPr>
          <p:cNvPr id="7" name="Rounded Rectangle 6"/>
          <p:cNvSpPr/>
          <p:nvPr/>
        </p:nvSpPr>
        <p:spPr>
          <a:xfrm>
            <a:off x="731520" y="5943600"/>
            <a:ext cx="10728655" cy="64008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989320"/>
            <a:ext cx="10515600" cy="548640"/>
          </a:xfrm>
          <a:prstGeom prst="rect">
            <a:avLst/>
          </a:prstGeom>
          <a:noFill/>
        </p:spPr>
        <p:txBody>
          <a:bodyPr wrap="none">
            <a:spAutoFit/>
          </a:bodyPr>
          <a:lstStyle/>
          <a:p>
            <a:pPr algn="ctr">
              <a:defRPr sz="1500" b="1">
                <a:solidFill>
                  <a:srgbClr val="FFFFFF"/>
                </a:solidFill>
              </a:defRPr>
            </a:pPr>
            <a:r>
              <a:t>LIVEAMENITY ADDRESSES BOTH PROBLEMS THROUGH A COMMON INTELLIGENCE LAYER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FROM BOOKING TO INTELLIGENT DECISION-MAKING</a:t>
            </a:r>
          </a:p>
        </p:txBody>
      </p:sp>
      <p:sp>
        <p:nvSpPr>
          <p:cNvPr id="5" name="Rounded Rectangle 4"/>
          <p:cNvSpPr/>
          <p:nvPr/>
        </p:nvSpPr>
        <p:spPr>
          <a:xfrm>
            <a:off x="731520" y="1645920"/>
            <a:ext cx="5212080"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94A3B8"/>
                </a:solidFill>
              </a:defRPr>
            </a:pPr>
            <a:r>
              <a:t>TRADITIONAL MODEL</a:t>
            </a:r>
          </a:p>
          <a:p>
            <a:br/>
            <a:pPr algn="ctr">
              <a:defRPr sz="1400" b="1">
                <a:solidFill>
                  <a:srgbClr val="EF4444"/>
                </a:solidFill>
              </a:defRPr>
            </a:pPr>
            <a:r>
              <a:t>FACILITY LISTING</a:t>
            </a:r>
            <a:br/>
            <a:r>
              <a:t>       │</a:t>
            </a:r>
            <a:br/>
            <a:r>
              <a:t>       ▼</a:t>
            </a:r>
            <a:br/>
            <a:r>
              <a:t>STATIC AVAILABILITY</a:t>
            </a:r>
            <a:br/>
            <a:r>
              <a:t>       │</a:t>
            </a:r>
            <a:br/>
            <a:r>
              <a:t>       ▼</a:t>
            </a:r>
            <a:br/>
            <a:r>
              <a:t>MANUAL BOOKING</a:t>
            </a:r>
            <a:br/>
            <a:r>
              <a:t>       │</a:t>
            </a:r>
            <a:br/>
            <a:r>
              <a:t>       ▼</a:t>
            </a:r>
            <a:br/>
            <a:r>
              <a:t>UNKNOWN CROWD VISIT</a:t>
            </a:r>
          </a:p>
        </p:txBody>
      </p:sp>
      <p:sp>
        <p:nvSpPr>
          <p:cNvPr id="6" name="Rounded Rectangle 5"/>
          <p:cNvSpPr/>
          <p:nvPr/>
        </p:nvSpPr>
        <p:spPr>
          <a:xfrm>
            <a:off x="6217920" y="1645920"/>
            <a:ext cx="5212080" cy="4023360"/>
          </a:xfrm>
          <a:prstGeom prst="roundRect">
            <a:avLst/>
          </a:prstGeom>
          <a:solidFill>
            <a:srgbClr val="0F172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6B6D4"/>
                </a:solidFill>
              </a:defRPr>
            </a:pPr>
            <a:r>
              <a:t>LIVEAMENITY INTELLIGENCE MODEL</a:t>
            </a:r>
          </a:p>
          <a:p>
            <a:br/>
            <a:pPr algn="ctr">
              <a:defRPr sz="1300" b="1">
                <a:solidFill>
                  <a:srgbClr val="10B981"/>
                </a:solidFill>
              </a:defRPr>
            </a:pPr>
            <a:r>
              <a:t>USER INTENT ➔ UNDERSTAND OCCUPANCY</a:t>
            </a:r>
            <a:br/>
            <a:r>
              <a:t>       │</a:t>
            </a:r>
            <a:br/>
            <a:r>
              <a:t>       ▼</a:t>
            </a:r>
            <a:br/>
            <a:r>
              <a:t>PREDICT FUTURE CROWD DYNAMICS</a:t>
            </a:r>
            <a:br/>
            <a:r>
              <a:t>       │</a:t>
            </a:r>
            <a:br/>
            <a:r>
              <a:t>       ▼</a:t>
            </a:r>
            <a:br/>
            <a:r>
              <a:t>RECOMMEND OPTIMAL FACILITY</a:t>
            </a:r>
            <a:br/>
            <a:r>
              <a:t>       │</a:t>
            </a:r>
            <a:br/>
            <a:r>
              <a:t>       ▼</a:t>
            </a:r>
            <a:br/>
            <a:r>
              <a:t>SMART ACTION &amp; CONTINUOUS FEEDBACK</a:t>
            </a:r>
          </a:p>
        </p:txBody>
      </p:sp>
      <p:sp>
        <p:nvSpPr>
          <p:cNvPr id="7" name="Rounded Rectangle 6"/>
          <p:cNvSpPr/>
          <p:nvPr/>
        </p:nvSpPr>
        <p:spPr>
          <a:xfrm>
            <a:off x="731520" y="5760720"/>
            <a:ext cx="10728655" cy="822960"/>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806440"/>
            <a:ext cx="10515600" cy="731520"/>
          </a:xfrm>
          <a:prstGeom prst="rect">
            <a:avLst/>
          </a:prstGeom>
          <a:noFill/>
        </p:spPr>
        <p:txBody>
          <a:bodyPr wrap="none">
            <a:spAutoFit/>
          </a:bodyPr>
          <a:lstStyle/>
          <a:p>
            <a:pPr algn="ctr">
              <a:defRPr sz="1800" b="1">
                <a:solidFill>
                  <a:srgbClr val="06B6D4"/>
                </a:solidFill>
              </a:defRPr>
            </a:pPr>
            <a:r>
              <a:t>WE ARE NOT BUILDING JUST ANOTHER BOOKING SYSTEM.</a:t>
            </a:r>
          </a:p>
          <a:p>
            <a:pPr algn="ctr">
              <a:defRPr sz="1300">
                <a:solidFill>
                  <a:srgbClr val="FFFFFF"/>
                </a:solidFill>
              </a:defRPr>
            </a:pPr>
            <a:r>
              <a:t>We are building an Intelligence Layer around shared facilities: Observe ➔ Predict ➔ Recommend ➔ Optimize.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SYSTEM DEFINITION &amp; CORE ARCHITECTURE</a:t>
            </a:r>
          </a:p>
        </p:txBody>
      </p:sp>
      <p:sp>
        <p:nvSpPr>
          <p:cNvPr id="5" name="Rounded Rectangle 4"/>
          <p:cNvSpPr/>
          <p:nvPr/>
        </p:nvSpPr>
        <p:spPr>
          <a:xfrm>
            <a:off x="731520" y="1645920"/>
            <a:ext cx="10728655" cy="1280160"/>
          </a:xfrm>
          <a:prstGeom prst="roundRect">
            <a:avLst/>
          </a:prstGeom>
          <a:solidFill>
            <a:srgbClr val="0F172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defRPr>
            </a:pPr>
            <a:r>
              <a:t>FORMAL SYSTEM DEFINITION</a:t>
            </a:r>
          </a:p>
          <a:p>
            <a:pPr>
              <a:defRPr sz="1400" b="1">
                <a:solidFill>
                  <a:srgbClr val="FFFFFF"/>
                </a:solidFill>
              </a:defRPr>
            </a:pPr>
            <a:r>
              <a:t>LiveAmenity is a Multi-Tenant Intelligent Shared-Amenity Platform that enables organizations to manage shared facilities while leveraging real-time occupancy tracking, predictive crowd analytics, and personalized intent recommendations to optimize facility utilization and improve user decision-making.</a:t>
            </a:r>
          </a:p>
        </p:txBody>
      </p:sp>
      <p:sp>
        <p:nvSpPr>
          <p:cNvPr id="6" name="Rounded Rectangle 5"/>
          <p:cNvSpPr/>
          <p:nvPr/>
        </p:nvSpPr>
        <p:spPr>
          <a:xfrm>
            <a:off x="731520" y="3108960"/>
            <a:ext cx="3474720" cy="3474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B82F6"/>
                </a:solidFill>
              </a:defRPr>
            </a:pPr>
            <a:r>
              <a:t>👥 USERS</a:t>
            </a:r>
          </a:p>
          <a:p>
            <a:pPr>
              <a:defRPr sz="1200">
                <a:solidFill>
                  <a:srgbClr val="FFFFFF"/>
                </a:solidFill>
              </a:defRPr>
            </a:pPr>
            <a:r>
              <a:t>• Express activity intent</a:t>
            </a:r>
          </a:p>
          <a:p>
            <a:pPr>
              <a:defRPr sz="1200">
                <a:solidFill>
                  <a:srgbClr val="FFFFFF"/>
                </a:solidFill>
              </a:defRPr>
            </a:pPr>
            <a:r>
              <a:t>• Discover real-time occupancy</a:t>
            </a:r>
          </a:p>
          <a:p>
            <a:pPr>
              <a:defRPr sz="1200">
                <a:solidFill>
                  <a:srgbClr val="FFFFFF"/>
                </a:solidFill>
              </a:defRPr>
            </a:pPr>
            <a:r>
              <a:t>• Receive smart recommendations</a:t>
            </a:r>
          </a:p>
          <a:p>
            <a:pPr>
              <a:defRPr sz="1200">
                <a:solidFill>
                  <a:srgbClr val="FFFFFF"/>
                </a:solidFill>
              </a:defRPr>
            </a:pPr>
            <a:r>
              <a:t>• QR check-in &amp; check-out</a:t>
            </a:r>
          </a:p>
          <a:p>
            <a:pPr>
              <a:defRPr sz="1200">
                <a:solidFill>
                  <a:srgbClr val="FFFFFF"/>
                </a:solidFill>
              </a:defRPr>
            </a:pPr>
            <a:r>
              <a:t>• View alternatives &amp; wait times</a:t>
            </a:r>
          </a:p>
        </p:txBody>
      </p:sp>
      <p:sp>
        <p:nvSpPr>
          <p:cNvPr id="7" name="Rounded Rectangle 6"/>
          <p:cNvSpPr/>
          <p:nvPr/>
        </p:nvSpPr>
        <p:spPr>
          <a:xfrm>
            <a:off x="4343400" y="3108960"/>
            <a:ext cx="3474720" cy="3474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6B6D4"/>
                </a:solidFill>
              </a:defRPr>
            </a:pPr>
            <a:r>
              <a:t>⚙️ INTELLIGENCE ENGINE</a:t>
            </a:r>
          </a:p>
          <a:p>
            <a:pPr>
              <a:defRPr sz="1200">
                <a:solidFill>
                  <a:srgbClr val="FFFFFF"/>
                </a:solidFill>
              </a:defRPr>
            </a:pPr>
            <a:r>
              <a:t>• Real-time occupancy calculation</a:t>
            </a:r>
          </a:p>
          <a:p>
            <a:pPr>
              <a:defRPr sz="1200">
                <a:solidFill>
                  <a:srgbClr val="FFFFFF"/>
                </a:solidFill>
              </a:defRPr>
            </a:pPr>
            <a:r>
              <a:t>• Time-series crowd prediction</a:t>
            </a:r>
          </a:p>
          <a:p>
            <a:pPr>
              <a:defRPr sz="1200">
                <a:solidFill>
                  <a:srgbClr val="FFFFFF"/>
                </a:solidFill>
              </a:defRPr>
            </a:pPr>
            <a:r>
              <a:t>• Intent-matching algorithm</a:t>
            </a:r>
          </a:p>
          <a:p>
            <a:pPr>
              <a:defRPr sz="1200">
                <a:solidFill>
                  <a:srgbClr val="FFFFFF"/>
                </a:solidFill>
              </a:defRPr>
            </a:pPr>
            <a:r>
              <a:t>• Demand redistribution logic</a:t>
            </a:r>
          </a:p>
          <a:p>
            <a:pPr>
              <a:defRPr sz="1200">
                <a:solidFill>
                  <a:srgbClr val="FFFFFF"/>
                </a:solidFill>
              </a:defRPr>
            </a:pPr>
            <a:r>
              <a:t>• No-show detection rules</a:t>
            </a:r>
          </a:p>
        </p:txBody>
      </p:sp>
      <p:sp>
        <p:nvSpPr>
          <p:cNvPr id="8" name="Rounded Rectangle 7"/>
          <p:cNvSpPr/>
          <p:nvPr/>
        </p:nvSpPr>
        <p:spPr>
          <a:xfrm>
            <a:off x="7955280" y="3108960"/>
            <a:ext cx="3474720" cy="3474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 ADMINISTRATION</a:t>
            </a:r>
          </a:p>
          <a:p>
            <a:pPr>
              <a:defRPr sz="1200">
                <a:solidFill>
                  <a:srgbClr val="FFFFFF"/>
                </a:solidFill>
              </a:defRPr>
            </a:pPr>
            <a:r>
              <a:t>• Demand Radar &amp; live metrics</a:t>
            </a:r>
          </a:p>
          <a:p>
            <a:pPr>
              <a:defRPr sz="1200">
                <a:solidFill>
                  <a:srgbClr val="FFFFFF"/>
                </a:solidFill>
              </a:defRPr>
            </a:pPr>
            <a:r>
              <a:t>• Facility capacity management</a:t>
            </a:r>
          </a:p>
          <a:p>
            <a:pPr>
              <a:defRPr sz="1200">
                <a:solidFill>
                  <a:srgbClr val="FFFFFF"/>
                </a:solidFill>
              </a:defRPr>
            </a:pPr>
            <a:r>
              <a:t>• Access control rules</a:t>
            </a:r>
          </a:p>
          <a:p>
            <a:pPr>
              <a:defRPr sz="1200">
                <a:solidFill>
                  <a:srgbClr val="FFFFFF"/>
                </a:solidFill>
              </a:defRPr>
            </a:pPr>
            <a:r>
              <a:t>• Peak-hour analytics</a:t>
            </a:r>
          </a:p>
          <a:p>
            <a:pPr>
              <a:defRPr sz="1200">
                <a:solidFill>
                  <a:srgbClr val="FFFFFF"/>
                </a:solidFill>
              </a:defRPr>
            </a:pPr>
            <a:r>
              <a:t>• Utilization optimization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REAL-LIFE USER SCENARIO (ASK ➔ RECOMMEND ➔ ACT)</a:t>
            </a:r>
          </a:p>
        </p:txBody>
      </p:sp>
      <p:sp>
        <p:nvSpPr>
          <p:cNvPr id="5" name="Rounded Rectangle 4"/>
          <p:cNvSpPr/>
          <p:nvPr/>
        </p:nvSpPr>
        <p:spPr>
          <a:xfrm>
            <a:off x="731520" y="1645920"/>
            <a:ext cx="10728655" cy="109728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59E0B"/>
                </a:solidFill>
              </a:defRPr>
            </a:pPr>
            <a:r>
              <a:t>🗣️ USER PROMPT / INTENT STATEMENT</a:t>
            </a:r>
          </a:p>
          <a:p>
            <a:pPr>
              <a:defRPr sz="1800" b="1">
                <a:solidFill>
                  <a:srgbClr val="FFFFFF"/>
                </a:solidFill>
              </a:defRPr>
            </a:pPr>
            <a:r>
              <a:t>“I have 40 minutes before dinner and I want to get a light workout or play a quick game.”</a:t>
            </a:r>
          </a:p>
        </p:txBody>
      </p:sp>
      <p:sp>
        <p:nvSpPr>
          <p:cNvPr id="6" name="Rounded Rectangle 5"/>
          <p:cNvSpPr/>
          <p:nvPr/>
        </p:nvSpPr>
        <p:spPr>
          <a:xfrm>
            <a:off x="731520" y="2926080"/>
            <a:ext cx="5212080" cy="3657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6B6D4"/>
                </a:solidFill>
              </a:defRPr>
            </a:pPr>
            <a:r>
              <a:t>🔍 LiveAmenity Real-Time Evaluation</a:t>
            </a:r>
          </a:p>
          <a:p>
            <a:pPr>
              <a:defRPr sz="1200">
                <a:solidFill>
                  <a:srgbClr val="FFFFFF"/>
                </a:solidFill>
              </a:defRPr>
            </a:pPr>
            <a:r>
              <a:t>• Activity Match: Cardio / Racquet / Gym</a:t>
            </a:r>
          </a:p>
          <a:p>
            <a:pPr>
              <a:defRPr sz="1200">
                <a:solidFill>
                  <a:srgbClr val="FFFFFF"/>
                </a:solidFill>
              </a:defRPr>
            </a:pPr>
            <a:r>
              <a:t>• Current Occupancy: Gym 88%, Badminton 42%, Pool 75%</a:t>
            </a:r>
          </a:p>
          <a:p>
            <a:pPr>
              <a:defRPr sz="1200">
                <a:solidFill>
                  <a:srgbClr val="FFFFFF"/>
                </a:solidFill>
              </a:defRPr>
            </a:pPr>
            <a:r>
              <a:t>• Predicted Crowd (+20 min): Gym 96% (Rising)</a:t>
            </a:r>
          </a:p>
          <a:p>
            <a:pPr>
              <a:defRPr sz="1200">
                <a:solidFill>
                  <a:srgbClr val="FFFFFF"/>
                </a:solidFill>
              </a:defRPr>
            </a:pPr>
            <a:r>
              <a:t>• Distance / Travel Time: Badminton Court 4 mins away</a:t>
            </a:r>
          </a:p>
          <a:p>
            <a:pPr>
              <a:defRPr sz="1200">
                <a:solidFill>
                  <a:srgbClr val="FFFFFF"/>
                </a:solidFill>
              </a:defRPr>
            </a:pPr>
            <a:r>
              <a:t>• Session Duration: 35 mins available window</a:t>
            </a:r>
          </a:p>
        </p:txBody>
      </p:sp>
      <p:sp>
        <p:nvSpPr>
          <p:cNvPr id="7" name="Rounded Rectangle 6"/>
          <p:cNvSpPr/>
          <p:nvPr/>
        </p:nvSpPr>
        <p:spPr>
          <a:xfrm>
            <a:off x="6217920" y="2926080"/>
            <a:ext cx="5212080" cy="36576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 SYSTEM RECOMMENDATION OUTPUT</a:t>
            </a:r>
          </a:p>
          <a:p>
            <a:br/>
            <a:pPr>
              <a:defRPr sz="1500" b="1">
                <a:solidFill>
                  <a:srgbClr val="FFFFFF"/>
                </a:solidFill>
              </a:defRPr>
            </a:pPr>
            <a:r>
              <a:t>🥇 BEST OPTION: Badminton Court 2</a:t>
            </a:r>
          </a:p>
          <a:p>
            <a:pPr>
              <a:defRPr sz="1200">
                <a:solidFill>
                  <a:srgbClr val="94A3B8"/>
                </a:solidFill>
              </a:defRPr>
            </a:pPr>
            <a:r>
              <a:t>• Occupancy: 42% (Low) | Travel: 4 mins</a:t>
            </a:r>
            <a:br/>
            <a:r>
              <a:t>• Reasoning: Gym is currently 88% full and rising. Badminton offers immediate access for 40 mins.</a:t>
            </a:r>
          </a:p>
          <a:p>
            <a:br/>
            <a:pPr>
              <a:defRPr sz="1300" b="1">
                <a:solidFill>
                  <a:srgbClr val="06B6D4"/>
                </a:solidFill>
              </a:defRPr>
            </a:pPr>
            <a:r>
              <a:t>🥈 ALTERNATIVE: Outdoor Yoga Deck (28% occupied)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THE 4-LAYER INTELLIGENCE FRAMEWORK</a:t>
            </a:r>
          </a:p>
        </p:txBody>
      </p:sp>
      <p:sp>
        <p:nvSpPr>
          <p:cNvPr id="5" name="Rounded Rectangle 4"/>
          <p:cNvSpPr/>
          <p:nvPr/>
        </p:nvSpPr>
        <p:spPr>
          <a:xfrm>
            <a:off x="731520" y="1645920"/>
            <a:ext cx="2560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B82F6"/>
                </a:solidFill>
              </a:defRPr>
            </a:pPr>
            <a:r>
              <a:t>1. UNDERSTAND</a:t>
            </a:r>
          </a:p>
          <a:p>
            <a:pPr>
              <a:defRPr sz="1100" i="1">
                <a:solidFill>
                  <a:srgbClr val="94A3B8"/>
                </a:solidFill>
              </a:defRPr>
            </a:pPr>
            <a:r>
              <a:t>What is happening right now?</a:t>
            </a:r>
            <a:br/>
          </a:p>
          <a:p>
            <a:pPr>
              <a:defRPr sz="1200">
                <a:solidFill>
                  <a:srgbClr val="FFFFFF"/>
                </a:solidFill>
              </a:defRPr>
            </a:pPr>
            <a:r>
              <a:t>• Real-Time Occupancy</a:t>
            </a:r>
          </a:p>
          <a:p>
            <a:pPr>
              <a:defRPr sz="1200">
                <a:solidFill>
                  <a:srgbClr val="FFFFFF"/>
                </a:solidFill>
              </a:defRPr>
            </a:pPr>
            <a:r>
              <a:t>• Active Check-ins</a:t>
            </a:r>
          </a:p>
          <a:p>
            <a:pPr>
              <a:defRPr sz="1200">
                <a:solidFill>
                  <a:srgbClr val="FFFFFF"/>
                </a:solidFill>
              </a:defRPr>
            </a:pPr>
            <a:r>
              <a:t>• Slot Capacity</a:t>
            </a:r>
          </a:p>
          <a:p>
            <a:pPr>
              <a:defRPr sz="1200">
                <a:solidFill>
                  <a:srgbClr val="FFFFFF"/>
                </a:solidFill>
              </a:defRPr>
            </a:pPr>
            <a:r>
              <a:t>• User Preferences</a:t>
            </a:r>
          </a:p>
        </p:txBody>
      </p:sp>
      <p:sp>
        <p:nvSpPr>
          <p:cNvPr id="6" name="Rounded Rectangle 5"/>
          <p:cNvSpPr/>
          <p:nvPr/>
        </p:nvSpPr>
        <p:spPr>
          <a:xfrm>
            <a:off x="3429000" y="1645920"/>
            <a:ext cx="2560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6B6D4"/>
                </a:solidFill>
              </a:defRPr>
            </a:pPr>
            <a:r>
              <a:t>2. PREDICT</a:t>
            </a:r>
          </a:p>
          <a:p>
            <a:pPr>
              <a:defRPr sz="1100" i="1">
                <a:solidFill>
                  <a:srgbClr val="94A3B8"/>
                </a:solidFill>
              </a:defRPr>
            </a:pPr>
            <a:r>
              <a:t>What will happen next?</a:t>
            </a:r>
            <a:br/>
          </a:p>
          <a:p>
            <a:pPr>
              <a:defRPr sz="1200">
                <a:solidFill>
                  <a:srgbClr val="FFFFFF"/>
                </a:solidFill>
              </a:defRPr>
            </a:pPr>
            <a:r>
              <a:t>• Crowd Spike Models</a:t>
            </a:r>
          </a:p>
          <a:p>
            <a:pPr>
              <a:defRPr sz="1200">
                <a:solidFill>
                  <a:srgbClr val="FFFFFF"/>
                </a:solidFill>
              </a:defRPr>
            </a:pPr>
            <a:r>
              <a:t>• Historical Trends</a:t>
            </a:r>
          </a:p>
          <a:p>
            <a:pPr>
              <a:defRPr sz="1200">
                <a:solidFill>
                  <a:srgbClr val="FFFFFF"/>
                </a:solidFill>
              </a:defRPr>
            </a:pPr>
            <a:r>
              <a:t>• Time-of-Day Dynamics</a:t>
            </a:r>
          </a:p>
          <a:p>
            <a:pPr>
              <a:defRPr sz="1200">
                <a:solidFill>
                  <a:srgbClr val="FFFFFF"/>
                </a:solidFill>
              </a:defRPr>
            </a:pPr>
            <a:r>
              <a:t>• No-Show Risk Scores</a:t>
            </a:r>
          </a:p>
        </p:txBody>
      </p:sp>
      <p:sp>
        <p:nvSpPr>
          <p:cNvPr id="7" name="Rounded Rectangle 6"/>
          <p:cNvSpPr/>
          <p:nvPr/>
        </p:nvSpPr>
        <p:spPr>
          <a:xfrm>
            <a:off x="6126480" y="1645920"/>
            <a:ext cx="2560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3. RECOMMEND</a:t>
            </a:r>
          </a:p>
          <a:p>
            <a:pPr>
              <a:defRPr sz="1100" i="1">
                <a:solidFill>
                  <a:srgbClr val="94A3B8"/>
                </a:solidFill>
              </a:defRPr>
            </a:pPr>
            <a:r>
              <a:t>What should user choose?</a:t>
            </a:r>
            <a:br/>
          </a:p>
          <a:p>
            <a:pPr>
              <a:defRPr sz="1200">
                <a:solidFill>
                  <a:srgbClr val="FFFFFF"/>
                </a:solidFill>
              </a:defRPr>
            </a:pPr>
            <a:r>
              <a:t>• Intent Matching</a:t>
            </a:r>
          </a:p>
          <a:p>
            <a:pPr>
              <a:defRPr sz="1200">
                <a:solidFill>
                  <a:srgbClr val="FFFFFF"/>
                </a:solidFill>
              </a:defRPr>
            </a:pPr>
            <a:r>
              <a:t>• Smart Alternatives</a:t>
            </a:r>
          </a:p>
          <a:p>
            <a:pPr>
              <a:defRPr sz="1200">
                <a:solidFill>
                  <a:srgbClr val="FFFFFF"/>
                </a:solidFill>
              </a:defRPr>
            </a:pPr>
            <a:r>
              <a:t>• Distance/Time Weighing</a:t>
            </a:r>
          </a:p>
          <a:p>
            <a:pPr>
              <a:defRPr sz="1200">
                <a:solidFill>
                  <a:srgbClr val="FFFFFF"/>
                </a:solidFill>
              </a:defRPr>
            </a:pPr>
            <a:r>
              <a:t>• Decision Explanations</a:t>
            </a:r>
          </a:p>
        </p:txBody>
      </p:sp>
      <p:sp>
        <p:nvSpPr>
          <p:cNvPr id="8" name="Rounded Rectangle 7"/>
          <p:cNvSpPr/>
          <p:nvPr/>
        </p:nvSpPr>
        <p:spPr>
          <a:xfrm>
            <a:off x="8823960" y="1645920"/>
            <a:ext cx="2560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9E0B"/>
                </a:solidFill>
              </a:defRPr>
            </a:pPr>
            <a:r>
              <a:t>4. OPTIMIZE</a:t>
            </a:r>
          </a:p>
          <a:p>
            <a:pPr>
              <a:defRPr sz="1100" i="1">
                <a:solidFill>
                  <a:srgbClr val="94A3B8"/>
                </a:solidFill>
              </a:defRPr>
            </a:pPr>
            <a:r>
              <a:t>How to balance demand?</a:t>
            </a:r>
            <a:br/>
          </a:p>
          <a:p>
            <a:pPr>
              <a:defRPr sz="1200">
                <a:solidFill>
                  <a:srgbClr val="FFFFFF"/>
                </a:solidFill>
              </a:defRPr>
            </a:pPr>
            <a:r>
              <a:t>• Demand Redistribution</a:t>
            </a:r>
          </a:p>
          <a:p>
            <a:pPr>
              <a:defRPr sz="1200">
                <a:solidFill>
                  <a:srgbClr val="FFFFFF"/>
                </a:solidFill>
              </a:defRPr>
            </a:pPr>
            <a:r>
              <a:t>• Congestion Reduction</a:t>
            </a:r>
          </a:p>
          <a:p>
            <a:pPr>
              <a:defRPr sz="1200">
                <a:solidFill>
                  <a:srgbClr val="FFFFFF"/>
                </a:solidFill>
              </a:defRPr>
            </a:pPr>
            <a:r>
              <a:t>• Dynamic Slot Limits</a:t>
            </a:r>
          </a:p>
          <a:p>
            <a:pPr>
              <a:defRPr sz="1200">
                <a:solidFill>
                  <a:srgbClr val="FFFFFF"/>
                </a:solidFill>
              </a:defRPr>
            </a:pPr>
            <a:r>
              <a:t>• Facility Health Index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REAL-TIME OCCUPANCY &amp; QR EVENT TRACKING</a:t>
            </a:r>
          </a:p>
        </p:txBody>
      </p:sp>
      <p:sp>
        <p:nvSpPr>
          <p:cNvPr id="5" name="Rounded Rectangle 4"/>
          <p:cNvSpPr/>
          <p:nvPr/>
        </p:nvSpPr>
        <p:spPr>
          <a:xfrm>
            <a:off x="731520" y="1645920"/>
            <a:ext cx="5212080" cy="164592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 MAIN CAMPUS GYM</a:t>
            </a:r>
          </a:p>
          <a:p>
            <a:pPr>
              <a:defRPr sz="1500" b="1">
                <a:solidFill>
                  <a:srgbClr val="10B981"/>
                </a:solidFill>
              </a:defRPr>
            </a:pPr>
            <a:r>
              <a:t>18 / 25 Occupied   |   72% Capacity   |   🟢 LIVE STATUS</a:t>
            </a:r>
          </a:p>
        </p:txBody>
      </p:sp>
      <p:sp>
        <p:nvSpPr>
          <p:cNvPr id="6" name="Rounded Rectangle 5"/>
          <p:cNvSpPr/>
          <p:nvPr/>
        </p:nvSpPr>
        <p:spPr>
          <a:xfrm>
            <a:off x="731520" y="3474720"/>
            <a:ext cx="521208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6B6D4"/>
                </a:solidFill>
              </a:defRPr>
            </a:pPr>
            <a:r>
              <a:t>📱 SMART QR CHECK-IN WORKFLOW</a:t>
            </a:r>
          </a:p>
          <a:p>
            <a:pPr>
              <a:defRPr sz="1200">
                <a:solidFill>
                  <a:srgbClr val="FFFFFF"/>
                </a:solidFill>
              </a:defRPr>
            </a:pPr>
            <a:r>
              <a:t>1. User arrives &amp; scans location QR code</a:t>
            </a:r>
          </a:p>
          <a:p>
            <a:pPr>
              <a:defRPr sz="1200">
                <a:solidFill>
                  <a:srgbClr val="FFFFFF"/>
                </a:solidFill>
              </a:defRPr>
            </a:pPr>
            <a:r>
              <a:t>2. System validates booking &amp; user authorization</a:t>
            </a:r>
          </a:p>
          <a:p>
            <a:pPr>
              <a:defRPr sz="1200">
                <a:solidFill>
                  <a:srgbClr val="FFFFFF"/>
                </a:solidFill>
              </a:defRPr>
            </a:pPr>
            <a:r>
              <a:t>3. Capacity check executed (Atomic counter increment)</a:t>
            </a:r>
          </a:p>
          <a:p>
            <a:pPr>
              <a:defRPr sz="1200">
                <a:solidFill>
                  <a:srgbClr val="FFFFFF"/>
                </a:solidFill>
              </a:defRPr>
            </a:pPr>
            <a:r>
              <a:t>4. Check-in event emitted ➔ Occupancy updated in Redis</a:t>
            </a:r>
          </a:p>
          <a:p>
            <a:pPr>
              <a:defRPr sz="1200">
                <a:solidFill>
                  <a:srgbClr val="FFFFFF"/>
                </a:solidFill>
              </a:defRPr>
            </a:pPr>
            <a:r>
              <a:t>5. Exit scan / auto-timeout ➔ Occupancy decremented</a:t>
            </a:r>
          </a:p>
        </p:txBody>
      </p:sp>
      <p:sp>
        <p:nvSpPr>
          <p:cNvPr id="7" name="Rounded Rectangle 6"/>
          <p:cNvSpPr/>
          <p:nvPr/>
        </p:nvSpPr>
        <p:spPr>
          <a:xfrm>
            <a:off x="6217920" y="1645920"/>
            <a:ext cx="52120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9E0B"/>
                </a:solidFill>
              </a:defRPr>
            </a:pPr>
            <a:r>
              <a:t>⚡ OPERATIONAL INSIGHT &amp; FUTURE SENSORS</a:t>
            </a:r>
          </a:p>
          <a:p>
            <a:pPr>
              <a:defRPr sz="1200">
                <a:solidFill>
                  <a:srgbClr val="FFFFFF"/>
                </a:solidFill>
              </a:defRPr>
            </a:pPr>
            <a:r>
              <a:t>Critical Operational Concept:</a:t>
            </a:r>
          </a:p>
          <a:p>
            <a:pPr>
              <a:defRPr sz="1200">
                <a:solidFill>
                  <a:srgbClr val="FFFFFF"/>
                </a:solidFill>
              </a:defRPr>
            </a:pPr>
            <a:r>
              <a:t>QR scanning is NOT just an entry gate feature; it generates verified operational events for live state synchronization.</a:t>
            </a:r>
          </a:p>
          <a:p>
            <a:pPr>
              <a:defRPr sz="1200">
                <a:solidFill>
                  <a:srgbClr val="FFFFFF"/>
                </a:solidFill>
              </a:defRPr>
            </a:pPr>
          </a:p>
          <a:p>
            <a:pPr>
              <a:defRPr sz="1200">
                <a:solidFill>
                  <a:srgbClr val="FFFFFF"/>
                </a:solidFill>
              </a:defRPr>
            </a:pPr>
            <a:r>
              <a:t>Extensible Sensor Integration (Future Scope):</a:t>
            </a:r>
          </a:p>
          <a:p>
            <a:pPr>
              <a:defRPr sz="1200">
                <a:solidFill>
                  <a:srgbClr val="FFFFFF"/>
                </a:solidFill>
              </a:defRPr>
            </a:pPr>
            <a:r>
              <a:t>• Turnstile / RFID Gate Access Logs</a:t>
            </a:r>
          </a:p>
          <a:p>
            <a:pPr>
              <a:defRPr sz="1200">
                <a:solidFill>
                  <a:srgbClr val="FFFFFF"/>
                </a:solidFill>
              </a:defRPr>
            </a:pPr>
            <a:r>
              <a:t>• IoT Infrared Counter Sensors at entry/exit</a:t>
            </a:r>
          </a:p>
          <a:p>
            <a:pPr>
              <a:defRPr sz="1200">
                <a:solidFill>
                  <a:srgbClr val="FFFFFF"/>
                </a:solidFill>
              </a:defRPr>
            </a:pPr>
            <a:r>
              <a:t>• Computer Vision / Camera Occupancy Counting</a:t>
            </a:r>
          </a:p>
          <a:p>
            <a:pPr>
              <a:defRPr sz="1200">
                <a:solidFill>
                  <a:srgbClr val="FFFFFF"/>
                </a:solidFill>
              </a:defRPr>
            </a:pPr>
            <a:r>
              <a:t>• Wi-Fi Access Point Density Analytics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PREDICTIVE OCCUPANCY &amp; DEMAND SMOOTHING</a:t>
            </a:r>
          </a:p>
        </p:txBody>
      </p:sp>
      <p:sp>
        <p:nvSpPr>
          <p:cNvPr id="5" name="Rounded Rectangle 4"/>
          <p:cNvSpPr/>
          <p:nvPr/>
        </p:nvSpPr>
        <p:spPr>
          <a:xfrm>
            <a:off x="731520" y="1645920"/>
            <a:ext cx="10728655" cy="1828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6B6D4"/>
                </a:solidFill>
              </a:defRPr>
            </a:pPr>
            <a:r>
              <a:t>📈 TIME-SERIES CROWD PREDICTION TRAJECTORY (ILLUSTRATIVE SCENARIO)</a:t>
            </a:r>
          </a:p>
          <a:p>
            <a:pPr algn="ctr">
              <a:defRPr sz="1600" b="1">
                <a:solidFill>
                  <a:srgbClr val="F59E0B"/>
                </a:solidFill>
              </a:defRPr>
            </a:pPr>
            <a:r>
              <a:t>NOW (72% Occupied)  ➔  +15 MIN (84% Occupied)  ➔  +30 MIN (96% CONGESTED)</a:t>
            </a:r>
          </a:p>
          <a:p>
            <a:pPr algn="ctr">
              <a:defRPr sz="1300" i="1">
                <a:solidFill>
                  <a:srgbClr val="FFFFFF"/>
                </a:solidFill>
              </a:defRPr>
            </a:pPr>
            <a:r>
              <a:t>System Insight: “Gym is open now but will hit capacity in 25 mins. Recommending Badminton or Yoga instead.”</a:t>
            </a:r>
          </a:p>
        </p:txBody>
      </p:sp>
      <p:sp>
        <p:nvSpPr>
          <p:cNvPr id="6" name="Rounded Rectangle 5"/>
          <p:cNvSpPr/>
          <p:nvPr/>
        </p:nvSpPr>
        <p:spPr>
          <a:xfrm>
            <a:off x="731520" y="3657600"/>
            <a:ext cx="5212080" cy="2743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EF4444"/>
                </a:solidFill>
              </a:defRPr>
            </a:pPr>
            <a:r>
              <a:t>UNBALANCED DEMAND (BEFORE)</a:t>
            </a:r>
          </a:p>
          <a:p>
            <a:pPr>
              <a:defRPr sz="1300">
                <a:solidFill>
                  <a:srgbClr val="FFFFFF"/>
                </a:solidFill>
              </a:defRPr>
            </a:pPr>
            <a:r>
              <a:t>• Main Gym: 96% (Severe Overcrowding)</a:t>
            </a:r>
            <a:br/>
            <a:r>
              <a:t>• Badminton: 91% (Near Capacity)</a:t>
            </a:r>
            <a:br/>
            <a:r>
              <a:t>• Yoga Lawn: 22% (Severely Underutilized)</a:t>
            </a:r>
            <a:br/>
            <a:r>
              <a:t>• Swimming Pool: 15% (Underutilized)</a:t>
            </a:r>
          </a:p>
        </p:txBody>
      </p:sp>
      <p:sp>
        <p:nvSpPr>
          <p:cNvPr id="7" name="Rounded Rectangle 6"/>
          <p:cNvSpPr/>
          <p:nvPr/>
        </p:nvSpPr>
        <p:spPr>
          <a:xfrm>
            <a:off x="6217920" y="3657600"/>
            <a:ext cx="5212080" cy="2743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0B981"/>
                </a:solidFill>
              </a:defRPr>
            </a:pPr>
            <a:r>
              <a:t>BALANCED DEMAND (AFTER LIVEAMENITY)</a:t>
            </a:r>
          </a:p>
          <a:p>
            <a:pPr>
              <a:defRPr sz="1300">
                <a:solidFill>
                  <a:srgbClr val="FFFFFF"/>
                </a:solidFill>
              </a:defRPr>
            </a:pPr>
            <a:r>
              <a:t>• Main Gym: 70% (Optimal Flow)</a:t>
            </a:r>
            <a:br/>
            <a:r>
              <a:t>• Badminton: 65% (Comfortable)</a:t>
            </a:r>
            <a:br/>
            <a:r>
              <a:t>• Yoga Lawn: 58% (Active Utilization)</a:t>
            </a:r>
            <a:br/>
            <a:r>
              <a:t>• Swimming Pool: 50% (Balanced Usage)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COMPLETE END-TO-END SYSTEM ARCHITECTURE</a:t>
            </a:r>
          </a:p>
        </p:txBody>
      </p:sp>
      <p:sp>
        <p:nvSpPr>
          <p:cNvPr id="5" name="Rounded Rectangle 4"/>
          <p:cNvSpPr/>
          <p:nvPr/>
        </p:nvSpPr>
        <p:spPr>
          <a:xfrm>
            <a:off x="731520" y="1645920"/>
            <a:ext cx="10728655" cy="7315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B82F6"/>
                </a:solidFill>
              </a:defRPr>
            </a:pPr>
            <a:r>
              <a:t>CLIENT LAYER</a:t>
            </a:r>
          </a:p>
          <a:p>
            <a:pPr>
              <a:defRPr sz="1300" b="1">
                <a:solidFill>
                  <a:srgbClr val="FFFFFF"/>
                </a:solidFill>
              </a:defRPr>
            </a:pPr>
            <a:r>
              <a:t>User Web / Mobile App  |  Admin Dashboard  |  Super Admin Portal</a:t>
            </a:r>
          </a:p>
        </p:txBody>
      </p:sp>
      <p:sp>
        <p:nvSpPr>
          <p:cNvPr id="6" name="Rounded Rectangle 5"/>
          <p:cNvSpPr/>
          <p:nvPr/>
        </p:nvSpPr>
        <p:spPr>
          <a:xfrm>
            <a:off x="731520" y="2468880"/>
            <a:ext cx="10728655" cy="7315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defRPr>
            </a:pPr>
            <a:r>
              <a:t>SECURITY &amp; AUTH LAYER</a:t>
            </a:r>
          </a:p>
          <a:p>
            <a:pPr>
              <a:defRPr sz="1300" b="1">
                <a:solidFill>
                  <a:srgbClr val="FFFFFF"/>
                </a:solidFill>
              </a:defRPr>
            </a:pPr>
            <a:r>
              <a:t>Clerk Authentication  |  RBAC Authorization  |  Organization Domain Verification</a:t>
            </a:r>
          </a:p>
        </p:txBody>
      </p:sp>
      <p:sp>
        <p:nvSpPr>
          <p:cNvPr id="7" name="Rounded Rectangle 6"/>
          <p:cNvSpPr/>
          <p:nvPr/>
        </p:nvSpPr>
        <p:spPr>
          <a:xfrm>
            <a:off x="731520" y="3291840"/>
            <a:ext cx="10728655" cy="7315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API &amp; ROUTING LAYER</a:t>
            </a:r>
          </a:p>
          <a:p>
            <a:pPr>
              <a:defRPr sz="1300" b="1">
                <a:solidFill>
                  <a:srgbClr val="FFFFFF"/>
                </a:solidFill>
              </a:defRPr>
            </a:pPr>
            <a:r>
              <a:t>RESTful API Gateway  |  WebSockets / Supabase Realtime Gateway</a:t>
            </a:r>
          </a:p>
        </p:txBody>
      </p:sp>
      <p:sp>
        <p:nvSpPr>
          <p:cNvPr id="8" name="Rounded Rectangle 7"/>
          <p:cNvSpPr/>
          <p:nvPr/>
        </p:nvSpPr>
        <p:spPr>
          <a:xfrm>
            <a:off x="731520" y="4114800"/>
            <a:ext cx="10728655" cy="7315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0B981"/>
                </a:solidFill>
              </a:defRPr>
            </a:pPr>
            <a:r>
              <a:t>CORE SERVICES LAYER</a:t>
            </a:r>
          </a:p>
          <a:p>
            <a:pPr>
              <a:defRPr sz="1300" b="1">
                <a:solidFill>
                  <a:srgbClr val="FFFFFF"/>
                </a:solidFill>
              </a:defRPr>
            </a:pPr>
            <a:r>
              <a:t>Organization Service | Facility Service | Booking Engine | Occupancy Service | QR Verification</a:t>
            </a:r>
          </a:p>
        </p:txBody>
      </p:sp>
      <p:sp>
        <p:nvSpPr>
          <p:cNvPr id="9" name="Rounded Rectangle 8"/>
          <p:cNvSpPr/>
          <p:nvPr/>
        </p:nvSpPr>
        <p:spPr>
          <a:xfrm>
            <a:off x="731520" y="4937760"/>
            <a:ext cx="10728655" cy="7315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59E0B"/>
                </a:solidFill>
              </a:defRPr>
            </a:pPr>
            <a:r>
              <a:t>INTELLIGENCE LAYER</a:t>
            </a:r>
          </a:p>
          <a:p>
            <a:pPr>
              <a:defRPr sz="1300" b="1">
                <a:solidFill>
                  <a:srgbClr val="FFFFFF"/>
                </a:solidFill>
              </a:defRPr>
            </a:pPr>
            <a:r>
              <a:t>Predictive Engine | Intent Matcher | Demand Redistribution | No-Show Analytics</a:t>
            </a:r>
          </a:p>
        </p:txBody>
      </p:sp>
      <p:sp>
        <p:nvSpPr>
          <p:cNvPr id="10" name="Rounded Rectangle 9"/>
          <p:cNvSpPr/>
          <p:nvPr/>
        </p:nvSpPr>
        <p:spPr>
          <a:xfrm>
            <a:off x="731520" y="5760720"/>
            <a:ext cx="10728655" cy="7315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B82F6"/>
                </a:solidFill>
              </a:defRPr>
            </a:pPr>
            <a:r>
              <a:t>DATA &amp; CACHE LAYER</a:t>
            </a:r>
          </a:p>
          <a:p>
            <a:pPr>
              <a:defRPr sz="1300" b="1">
                <a:solidFill>
                  <a:srgbClr val="FFFFFF"/>
                </a:solidFill>
              </a:defRPr>
            </a:pPr>
            <a:r>
              <a:t>PostgreSQL (Relational Storage)  |  Redis (Live Occupancy Cache &amp; Atomic Counters)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ONE PLATFORM — MULTIPLE DOMAINS (MULTI-TENANCY)</a:t>
            </a:r>
          </a:p>
        </p:txBody>
      </p:sp>
      <p:sp>
        <p:nvSpPr>
          <p:cNvPr id="5" name="Rounded Rectangle 4"/>
          <p:cNvSpPr/>
          <p:nvPr/>
        </p:nvSpPr>
        <p:spPr>
          <a:xfrm>
            <a:off x="731520" y="1645920"/>
            <a:ext cx="3474720" cy="3931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3B82F6"/>
                </a:solidFill>
              </a:defRPr>
            </a:pPr>
            <a:r>
              <a:t>🏡 RESIDENTIAL SOCIETIES</a:t>
            </a:r>
          </a:p>
          <a:p>
            <a:pPr>
              <a:defRPr sz="1200">
                <a:solidFill>
                  <a:srgbClr val="FFFFFF"/>
                </a:solidFill>
              </a:defRPr>
            </a:pPr>
            <a:r>
              <a:t>• Users: Apartment Residents</a:t>
            </a:r>
          </a:p>
          <a:p>
            <a:pPr>
              <a:defRPr sz="1200">
                <a:solidFill>
                  <a:srgbClr val="FFFFFF"/>
                </a:solidFill>
              </a:defRPr>
            </a:pPr>
            <a:r>
              <a:t>• Amenities: Gym, Pool, Tennis, Clubhouse</a:t>
            </a:r>
          </a:p>
          <a:p>
            <a:pPr>
              <a:defRPr sz="1200">
                <a:solidFill>
                  <a:srgbClr val="FFFFFF"/>
                </a:solidFill>
              </a:defRPr>
            </a:pPr>
            <a:r>
              <a:t>• Key Focus: Fair access rules, guest quotas, quiet-hour enforcement.</a:t>
            </a:r>
          </a:p>
        </p:txBody>
      </p:sp>
      <p:sp>
        <p:nvSpPr>
          <p:cNvPr id="6" name="Rounded Rectangle 5"/>
          <p:cNvSpPr/>
          <p:nvPr/>
        </p:nvSpPr>
        <p:spPr>
          <a:xfrm>
            <a:off x="4343400" y="1645920"/>
            <a:ext cx="3474720" cy="3931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6B6D4"/>
                </a:solidFill>
              </a:defRPr>
            </a:pPr>
            <a:r>
              <a:t>🎓 UNIVERSITY CAMPUSES</a:t>
            </a:r>
          </a:p>
          <a:p>
            <a:pPr>
              <a:defRPr sz="1200">
                <a:solidFill>
                  <a:srgbClr val="FFFFFF"/>
                </a:solidFill>
              </a:defRPr>
            </a:pPr>
            <a:r>
              <a:t>• Users: Students, Faculty, Researchers</a:t>
            </a:r>
          </a:p>
          <a:p>
            <a:pPr>
              <a:defRPr sz="1200">
                <a:solidFill>
                  <a:srgbClr val="FFFFFF"/>
                </a:solidFill>
              </a:defRPr>
            </a:pPr>
            <a:r>
              <a:t>• Amenities: Sports Complex, Study Rooms, Labs</a:t>
            </a:r>
          </a:p>
          <a:p>
            <a:pPr>
              <a:defRPr sz="1200">
                <a:solidFill>
                  <a:srgbClr val="FFFFFF"/>
                </a:solidFill>
              </a:defRPr>
            </a:pPr>
            <a:r>
              <a:t>• Key Focus: Exam peak load management, lab equipment slotting.</a:t>
            </a:r>
          </a:p>
        </p:txBody>
      </p:sp>
      <p:sp>
        <p:nvSpPr>
          <p:cNvPr id="7" name="Rounded Rectangle 6"/>
          <p:cNvSpPr/>
          <p:nvPr/>
        </p:nvSpPr>
        <p:spPr>
          <a:xfrm>
            <a:off x="7955280" y="1645920"/>
            <a:ext cx="3474720" cy="3931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0B981"/>
                </a:solidFill>
              </a:defRPr>
            </a:pPr>
            <a:r>
              <a:t>🏢 CORPORATE / TECH PARKS</a:t>
            </a:r>
          </a:p>
          <a:p>
            <a:pPr>
              <a:defRPr sz="1200">
                <a:solidFill>
                  <a:srgbClr val="FFFFFF"/>
                </a:solidFill>
              </a:defRPr>
            </a:pPr>
            <a:r>
              <a:t>• Users: Employees &amp; Visitors</a:t>
            </a:r>
          </a:p>
          <a:p>
            <a:pPr>
              <a:defRPr sz="1200">
                <a:solidFill>
                  <a:srgbClr val="FFFFFF"/>
                </a:solidFill>
              </a:defRPr>
            </a:pPr>
            <a:r>
              <a:t>• Amenities: Conference Rooms, Workspaces, Gym</a:t>
            </a:r>
          </a:p>
          <a:p>
            <a:pPr>
              <a:defRPr sz="1200">
                <a:solidFill>
                  <a:srgbClr val="FFFFFF"/>
                </a:solidFill>
              </a:defRPr>
            </a:pPr>
            <a:r>
              <a:t>• Key Focus: Meeting room no-shows, workspace seat allocation.</a:t>
            </a:r>
          </a:p>
        </p:txBody>
      </p:sp>
      <p:sp>
        <p:nvSpPr>
          <p:cNvPr id="8" name="Rounded Rectangle 7"/>
          <p:cNvSpPr/>
          <p:nvPr/>
        </p:nvSpPr>
        <p:spPr>
          <a:xfrm>
            <a:off x="731520" y="5760720"/>
            <a:ext cx="10728655" cy="731520"/>
          </a:xfrm>
          <a:prstGeom prst="roundRect">
            <a:avLst/>
          </a:prstGeom>
          <a:solidFill>
            <a:srgbClr val="0F172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806440"/>
            <a:ext cx="10515600" cy="640080"/>
          </a:xfrm>
          <a:prstGeom prst="rect">
            <a:avLst/>
          </a:prstGeom>
          <a:noFill/>
        </p:spPr>
        <p:txBody>
          <a:bodyPr wrap="none">
            <a:spAutoFit/>
          </a:bodyPr>
          <a:lstStyle/>
          <a:p>
            <a:pPr>
              <a:defRPr sz="1400" b="1">
                <a:solidFill>
                  <a:srgbClr val="06B6D4"/>
                </a:solidFill>
              </a:defRPr>
            </a:pPr>
            <a:r>
              <a:t>CORE MULTI-TENANT PRINCIPLE:</a:t>
            </a:r>
          </a:p>
          <a:p>
            <a:pPr>
              <a:defRPr sz="1300">
                <a:solidFill>
                  <a:srgbClr val="FFFFFF"/>
                </a:solidFill>
              </a:defRPr>
            </a:pPr>
            <a:r>
              <a:t>Common Core Engine + Strict Tenant Data Isolation + Domain-Specific Custom Rule Configurations.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AUTHENTICATION, AUTHORIZATION &amp; VERIFICATION</a:t>
            </a:r>
          </a:p>
        </p:txBody>
      </p:sp>
      <p:sp>
        <p:nvSpPr>
          <p:cNvPr id="5" name="Rounded Rectangle 4"/>
          <p:cNvSpPr/>
          <p:nvPr/>
        </p:nvSpPr>
        <p:spPr>
          <a:xfrm>
            <a:off x="731520" y="1645920"/>
            <a:ext cx="34747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3B82F6"/>
                </a:solidFill>
              </a:defRPr>
            </a:pPr>
            <a:r>
              <a:t>1. AUTHENTICATION</a:t>
            </a:r>
            <a:br/>
            <a:r>
              <a:t>(Who are you?)</a:t>
            </a:r>
          </a:p>
          <a:p>
            <a:pPr>
              <a:defRPr sz="1200">
                <a:solidFill>
                  <a:srgbClr val="FFFFFF"/>
                </a:solidFill>
              </a:defRPr>
            </a:pPr>
            <a:r>
              <a:t>• Managed via Clerk Auth / Supabase Auth</a:t>
            </a:r>
          </a:p>
          <a:p>
            <a:pPr>
              <a:defRPr sz="1200">
                <a:solidFill>
                  <a:srgbClr val="FFFFFF"/>
                </a:solidFill>
              </a:defRPr>
            </a:pPr>
            <a:r>
              <a:t>• Secure JWT Session Tokens</a:t>
            </a:r>
          </a:p>
          <a:p>
            <a:pPr>
              <a:defRPr sz="1200">
                <a:solidFill>
                  <a:srgbClr val="FFFFFF"/>
                </a:solidFill>
              </a:defRPr>
            </a:pPr>
            <a:r>
              <a:t>• OAuth 2.0 &amp; Email Magic Links</a:t>
            </a:r>
          </a:p>
          <a:p>
            <a:pPr>
              <a:defRPr sz="1200">
                <a:solidFill>
                  <a:srgbClr val="FFFFFF"/>
                </a:solidFill>
              </a:defRPr>
            </a:pPr>
            <a:r>
              <a:t>• Multi-Factor Authentication (MFA)</a:t>
            </a:r>
          </a:p>
        </p:txBody>
      </p:sp>
      <p:sp>
        <p:nvSpPr>
          <p:cNvPr id="6" name="Rounded Rectangle 5"/>
          <p:cNvSpPr/>
          <p:nvPr/>
        </p:nvSpPr>
        <p:spPr>
          <a:xfrm>
            <a:off x="4343400" y="1645920"/>
            <a:ext cx="34747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6B6D4"/>
                </a:solidFill>
              </a:defRPr>
            </a:pPr>
            <a:r>
              <a:t>2. AUTHORIZATION</a:t>
            </a:r>
            <a:br/>
            <a:r>
              <a:t>(What can you do?)</a:t>
            </a:r>
          </a:p>
          <a:p>
            <a:pPr>
              <a:defRPr sz="1200">
                <a:solidFill>
                  <a:srgbClr val="FFFFFF"/>
                </a:solidFill>
              </a:defRPr>
            </a:pPr>
            <a:r>
              <a:t>• Role-Based Access Control (RBAC)</a:t>
            </a:r>
          </a:p>
          <a:p>
            <a:pPr>
              <a:defRPr sz="1200">
                <a:solidFill>
                  <a:srgbClr val="FFFFFF"/>
                </a:solidFill>
              </a:defRPr>
            </a:pPr>
            <a:r>
              <a:t>• SUPER ADMIN: System-wide control</a:t>
            </a:r>
          </a:p>
          <a:p>
            <a:pPr>
              <a:defRPr sz="1200">
                <a:solidFill>
                  <a:srgbClr val="FFFFFF"/>
                </a:solidFill>
              </a:defRPr>
            </a:pPr>
            <a:r>
              <a:t>• ORG ADMIN: Organization management</a:t>
            </a:r>
          </a:p>
          <a:p>
            <a:pPr>
              <a:defRPr sz="1200">
                <a:solidFill>
                  <a:srgbClr val="FFFFFF"/>
                </a:solidFill>
              </a:defRPr>
            </a:pPr>
            <a:r>
              <a:t>• USER: Discovery, booking &amp; QR access</a:t>
            </a:r>
          </a:p>
        </p:txBody>
      </p:sp>
      <p:sp>
        <p:nvSpPr>
          <p:cNvPr id="7" name="Rounded Rectangle 6"/>
          <p:cNvSpPr/>
          <p:nvPr/>
        </p:nvSpPr>
        <p:spPr>
          <a:xfrm>
            <a:off x="7955280" y="1645920"/>
            <a:ext cx="34747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59E0B"/>
                </a:solidFill>
              </a:defRPr>
            </a:pPr>
            <a:r>
              <a:t>3. ORG VERIFICATION</a:t>
            </a:r>
            <a:br/>
            <a:r>
              <a:t>(Is org legitimate?)</a:t>
            </a:r>
          </a:p>
          <a:p>
            <a:pPr>
              <a:defRPr sz="1200">
                <a:solidFill>
                  <a:srgbClr val="FFFFFF"/>
                </a:solidFill>
              </a:defRPr>
            </a:pPr>
            <a:r>
              <a:t>• Self-service Org Registration</a:t>
            </a:r>
          </a:p>
          <a:p>
            <a:pPr>
              <a:defRPr sz="1200">
                <a:solidFill>
                  <a:srgbClr val="FFFFFF"/>
                </a:solidFill>
              </a:defRPr>
            </a:pPr>
            <a:r>
              <a:t>• Verification Document Submission</a:t>
            </a:r>
          </a:p>
          <a:p>
            <a:pPr>
              <a:defRPr sz="1200">
                <a:solidFill>
                  <a:srgbClr val="FFFFFF"/>
                </a:solidFill>
              </a:defRPr>
            </a:pPr>
            <a:r>
              <a:t>• Super Admin Review &amp; Approval</a:t>
            </a:r>
          </a:p>
          <a:p>
            <a:pPr>
              <a:defRPr sz="1200">
                <a:solidFill>
                  <a:srgbClr val="FFFFFF"/>
                </a:solidFill>
              </a:defRPr>
            </a:pPr>
            <a:r>
              <a:t>• Prevents fake/unauthorized org creation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TECHNOLOGY STACK &amp; TECHNICAL RATIONALE</a:t>
            </a:r>
          </a:p>
        </p:txBody>
      </p:sp>
      <p:graphicFrame>
        <p:nvGraphicFramePr>
          <p:cNvPr id="5" name="Table 4"/>
          <p:cNvGraphicFramePr>
            <a:graphicFrameLocks noGrp="1"/>
          </p:cNvGraphicFramePr>
          <p:nvPr/>
        </p:nvGraphicFramePr>
        <p:xfrm>
          <a:off x="731520" y="1645920"/>
          <a:ext cx="10728655" cy="4572000"/>
        </p:xfrm>
        <a:graphic>
          <a:graphicData uri="http://schemas.openxmlformats.org/drawingml/2006/table">
            <a:tbl>
              <a:tblPr firstRow="1" bandRow="1">
                <a:tableStyleId>{5C22544A-7EE6-4342-B048-85BDC9FD1C3A}</a:tableStyleId>
              </a:tblPr>
              <a:tblGrid>
                <a:gridCol w="2286000"/>
                <a:gridCol w="3840480"/>
                <a:gridCol w="4602175"/>
              </a:tblGrid>
              <a:tr h="653142">
                <a:tc>
                  <a:txBody>
                    <a:bodyPr/>
                    <a:lstStyle/>
                    <a:p>
                      <a:pPr>
                        <a:defRPr sz="1300" b="1">
                          <a:solidFill>
                            <a:srgbClr val="06B6D4"/>
                          </a:solidFill>
                        </a:defRPr>
                      </a:pPr>
                      <a:r>
                        <a:t>Layer</a:t>
                      </a:r>
                    </a:p>
                  </a:txBody>
                  <a:tcPr>
                    <a:solidFill>
                      <a:srgbClr val="1E3A8A"/>
                    </a:solidFill>
                  </a:tcPr>
                </a:tc>
                <a:tc>
                  <a:txBody>
                    <a:bodyPr/>
                    <a:lstStyle/>
                    <a:p>
                      <a:pPr>
                        <a:defRPr sz="1300" b="1">
                          <a:solidFill>
                            <a:srgbClr val="06B6D4"/>
                          </a:solidFill>
                        </a:defRPr>
                      </a:pPr>
                      <a:r>
                        <a:t>Technology Selected</a:t>
                      </a:r>
                    </a:p>
                  </a:txBody>
                  <a:tcPr>
                    <a:solidFill>
                      <a:srgbClr val="1E3A8A"/>
                    </a:solidFill>
                  </a:tcPr>
                </a:tc>
                <a:tc>
                  <a:txBody>
                    <a:bodyPr/>
                    <a:lstStyle/>
                    <a:p>
                      <a:pPr>
                        <a:defRPr sz="1300" b="1">
                          <a:solidFill>
                            <a:srgbClr val="06B6D4"/>
                          </a:solidFill>
                        </a:defRPr>
                      </a:pPr>
                      <a:r>
                        <a:t>Technical Rationale</a:t>
                      </a:r>
                    </a:p>
                  </a:txBody>
                  <a:tcPr>
                    <a:solidFill>
                      <a:srgbClr val="1E3A8A"/>
                    </a:solidFill>
                  </a:tcPr>
                </a:tc>
              </a:tr>
              <a:tr h="653142">
                <a:tc>
                  <a:txBody>
                    <a:bodyPr/>
                    <a:lstStyle/>
                    <a:p>
                      <a:pPr>
                        <a:defRPr sz="1100">
                          <a:solidFill>
                            <a:srgbClr val="FFFFFF"/>
                          </a:solidFill>
                        </a:defRPr>
                      </a:pPr>
                      <a:r>
                        <a:t>Frontend UI</a:t>
                      </a:r>
                    </a:p>
                  </a:txBody>
                  <a:tcPr>
                    <a:solidFill>
                      <a:srgbClr val="1E293B"/>
                    </a:solidFill>
                  </a:tcPr>
                </a:tc>
                <a:tc>
                  <a:txBody>
                    <a:bodyPr/>
                    <a:lstStyle/>
                    <a:p>
                      <a:pPr>
                        <a:defRPr sz="1100">
                          <a:solidFill>
                            <a:srgbClr val="FFFFFF"/>
                          </a:solidFill>
                        </a:defRPr>
                      </a:pPr>
                      <a:r>
                        <a:t>Next.js / React 19 + Tailwind CSS</a:t>
                      </a:r>
                    </a:p>
                  </a:txBody>
                  <a:tcPr>
                    <a:solidFill>
                      <a:srgbClr val="1E293B"/>
                    </a:solidFill>
                  </a:tcPr>
                </a:tc>
                <a:tc>
                  <a:txBody>
                    <a:bodyPr/>
                    <a:lstStyle/>
                    <a:p>
                      <a:pPr>
                        <a:defRPr sz="1100">
                          <a:solidFill>
                            <a:srgbClr val="FFFFFF"/>
                          </a:solidFill>
                        </a:defRPr>
                      </a:pPr>
                      <a:r>
                        <a:t>Server-Side Rendering, fast client routing, responsive mobile UI.</a:t>
                      </a:r>
                    </a:p>
                  </a:txBody>
                  <a:tcPr>
                    <a:solidFill>
                      <a:srgbClr val="1E293B"/>
                    </a:solidFill>
                  </a:tcPr>
                </a:tc>
              </a:tr>
              <a:tr h="653142">
                <a:tc>
                  <a:txBody>
                    <a:bodyPr/>
                    <a:lstStyle/>
                    <a:p>
                      <a:pPr>
                        <a:defRPr sz="1100">
                          <a:solidFill>
                            <a:srgbClr val="FFFFFF"/>
                          </a:solidFill>
                        </a:defRPr>
                      </a:pPr>
                      <a:r>
                        <a:t>Backend API</a:t>
                      </a:r>
                    </a:p>
                  </a:txBody>
                  <a:tcPr>
                    <a:solidFill>
                      <a:srgbClr val="1E293B"/>
                    </a:solidFill>
                  </a:tcPr>
                </a:tc>
                <a:tc>
                  <a:txBody>
                    <a:bodyPr/>
                    <a:lstStyle/>
                    <a:p>
                      <a:pPr>
                        <a:defRPr sz="1100">
                          <a:solidFill>
                            <a:srgbClr val="FFFFFF"/>
                          </a:solidFill>
                        </a:defRPr>
                      </a:pPr>
                      <a:r>
                        <a:t>Node.js + Express / TypeScript</a:t>
                      </a:r>
                    </a:p>
                  </a:txBody>
                  <a:tcPr>
                    <a:solidFill>
                      <a:srgbClr val="1E293B"/>
                    </a:solidFill>
                  </a:tcPr>
                </a:tc>
                <a:tc>
                  <a:txBody>
                    <a:bodyPr/>
                    <a:lstStyle/>
                    <a:p>
                      <a:pPr>
                        <a:defRPr sz="1100">
                          <a:solidFill>
                            <a:srgbClr val="FFFFFF"/>
                          </a:solidFill>
                        </a:defRPr>
                      </a:pPr>
                      <a:r>
                        <a:t>Non-blocking async I/O, strict typing, high throughput for live events.</a:t>
                      </a:r>
                    </a:p>
                  </a:txBody>
                  <a:tcPr>
                    <a:solidFill>
                      <a:srgbClr val="1E293B"/>
                    </a:solidFill>
                  </a:tcPr>
                </a:tc>
              </a:tr>
              <a:tr h="653142">
                <a:tc>
                  <a:txBody>
                    <a:bodyPr/>
                    <a:lstStyle/>
                    <a:p>
                      <a:pPr>
                        <a:defRPr sz="1100">
                          <a:solidFill>
                            <a:srgbClr val="FFFFFF"/>
                          </a:solidFill>
                        </a:defRPr>
                      </a:pPr>
                      <a:r>
                        <a:t>Authentication</a:t>
                      </a:r>
                    </a:p>
                  </a:txBody>
                  <a:tcPr>
                    <a:solidFill>
                      <a:srgbClr val="1E293B"/>
                    </a:solidFill>
                  </a:tcPr>
                </a:tc>
                <a:tc>
                  <a:txBody>
                    <a:bodyPr/>
                    <a:lstStyle/>
                    <a:p>
                      <a:pPr>
                        <a:defRPr sz="1100">
                          <a:solidFill>
                            <a:srgbClr val="FFFFFF"/>
                          </a:solidFill>
                        </a:defRPr>
                      </a:pPr>
                      <a:r>
                        <a:t>Clerk Authentication</a:t>
                      </a:r>
                    </a:p>
                  </a:txBody>
                  <a:tcPr>
                    <a:solidFill>
                      <a:srgbClr val="1E293B"/>
                    </a:solidFill>
                  </a:tcPr>
                </a:tc>
                <a:tc>
                  <a:txBody>
                    <a:bodyPr/>
                    <a:lstStyle/>
                    <a:p>
                      <a:pPr>
                        <a:defRPr sz="1100">
                          <a:solidFill>
                            <a:srgbClr val="FFFFFF"/>
                          </a:solidFill>
                        </a:defRPr>
                      </a:pPr>
                      <a:r>
                        <a:t>Enterprise-grade identity management, pre-built RBAC &amp; session security.</a:t>
                      </a:r>
                    </a:p>
                  </a:txBody>
                  <a:tcPr>
                    <a:solidFill>
                      <a:srgbClr val="1E293B"/>
                    </a:solidFill>
                  </a:tcPr>
                </a:tc>
              </a:tr>
              <a:tr h="653142">
                <a:tc>
                  <a:txBody>
                    <a:bodyPr/>
                    <a:lstStyle/>
                    <a:p>
                      <a:pPr>
                        <a:defRPr sz="1100">
                          <a:solidFill>
                            <a:srgbClr val="FFFFFF"/>
                          </a:solidFill>
                        </a:defRPr>
                      </a:pPr>
                      <a:r>
                        <a:t>Database</a:t>
                      </a:r>
                    </a:p>
                  </a:txBody>
                  <a:tcPr>
                    <a:solidFill>
                      <a:srgbClr val="1E293B"/>
                    </a:solidFill>
                  </a:tcPr>
                </a:tc>
                <a:tc>
                  <a:txBody>
                    <a:bodyPr/>
                    <a:lstStyle/>
                    <a:p>
                      <a:pPr>
                        <a:defRPr sz="1100">
                          <a:solidFill>
                            <a:srgbClr val="FFFFFF"/>
                          </a:solidFill>
                        </a:defRPr>
                      </a:pPr>
                      <a:r>
                        <a:t>PostgreSQL / Supabase</a:t>
                      </a:r>
                    </a:p>
                  </a:txBody>
                  <a:tcPr>
                    <a:solidFill>
                      <a:srgbClr val="1E293B"/>
                    </a:solidFill>
                  </a:tcPr>
                </a:tc>
                <a:tc>
                  <a:txBody>
                    <a:bodyPr/>
                    <a:lstStyle/>
                    <a:p>
                      <a:pPr>
                        <a:defRPr sz="1100">
                          <a:solidFill>
                            <a:srgbClr val="FFFFFF"/>
                          </a:solidFill>
                        </a:defRPr>
                      </a:pPr>
                      <a:r>
                        <a:t>ACID-compliant relational database for structured bookings &amp; org schemas.</a:t>
                      </a:r>
                    </a:p>
                  </a:txBody>
                  <a:tcPr>
                    <a:solidFill>
                      <a:srgbClr val="1E293B"/>
                    </a:solidFill>
                  </a:tcPr>
                </a:tc>
              </a:tr>
              <a:tr h="653142">
                <a:tc>
                  <a:txBody>
                    <a:bodyPr/>
                    <a:lstStyle/>
                    <a:p>
                      <a:pPr>
                        <a:defRPr sz="1100">
                          <a:solidFill>
                            <a:srgbClr val="FFFFFF"/>
                          </a:solidFill>
                        </a:defRPr>
                      </a:pPr>
                      <a:r>
                        <a:t>Real-Time Cache</a:t>
                      </a:r>
                    </a:p>
                  </a:txBody>
                  <a:tcPr>
                    <a:solidFill>
                      <a:srgbClr val="1E293B"/>
                    </a:solidFill>
                  </a:tcPr>
                </a:tc>
                <a:tc>
                  <a:txBody>
                    <a:bodyPr/>
                    <a:lstStyle/>
                    <a:p>
                      <a:pPr>
                        <a:defRPr sz="1100">
                          <a:solidFill>
                            <a:srgbClr val="FFFFFF"/>
                          </a:solidFill>
                        </a:defRPr>
                      </a:pPr>
                      <a:r>
                        <a:t>Redis + Supabase Realtime</a:t>
                      </a:r>
                    </a:p>
                  </a:txBody>
                  <a:tcPr>
                    <a:solidFill>
                      <a:srgbClr val="1E293B"/>
                    </a:solidFill>
                  </a:tcPr>
                </a:tc>
                <a:tc>
                  <a:txBody>
                    <a:bodyPr/>
                    <a:lstStyle/>
                    <a:p>
                      <a:pPr>
                        <a:defRPr sz="1100">
                          <a:solidFill>
                            <a:srgbClr val="FFFFFF"/>
                          </a:solidFill>
                        </a:defRPr>
                      </a:pPr>
                      <a:r>
                        <a:t>In-memory atomic counters for live occupancy &amp; instant WebSocket updates.</a:t>
                      </a:r>
                    </a:p>
                  </a:txBody>
                  <a:tcPr>
                    <a:solidFill>
                      <a:srgbClr val="1E293B"/>
                    </a:solidFill>
                  </a:tcPr>
                </a:tc>
              </a:tr>
              <a:tr h="653148">
                <a:tc>
                  <a:txBody>
                    <a:bodyPr/>
                    <a:lstStyle/>
                    <a:p>
                      <a:pPr>
                        <a:defRPr sz="1100">
                          <a:solidFill>
                            <a:srgbClr val="FFFFFF"/>
                          </a:solidFill>
                        </a:defRPr>
                      </a:pPr>
                      <a:r>
                        <a:t>Notifications</a:t>
                      </a:r>
                    </a:p>
                  </a:txBody>
                  <a:tcPr>
                    <a:solidFill>
                      <a:srgbClr val="1E293B"/>
                    </a:solidFill>
                  </a:tcPr>
                </a:tc>
                <a:tc>
                  <a:txBody>
                    <a:bodyPr/>
                    <a:lstStyle/>
                    <a:p>
                      <a:pPr>
                        <a:defRPr sz="1100">
                          <a:solidFill>
                            <a:srgbClr val="FFFFFF"/>
                          </a:solidFill>
                        </a:defRPr>
                      </a:pPr>
                      <a:r>
                        <a:t>Resend API</a:t>
                      </a:r>
                    </a:p>
                  </a:txBody>
                  <a:tcPr>
                    <a:solidFill>
                      <a:srgbClr val="1E293B"/>
                    </a:solidFill>
                  </a:tcPr>
                </a:tc>
                <a:tc>
                  <a:txBody>
                    <a:bodyPr/>
                    <a:lstStyle/>
                    <a:p>
                      <a:pPr>
                        <a:defRPr sz="1100">
                          <a:solidFill>
                            <a:srgbClr val="FFFFFF"/>
                          </a:solidFill>
                        </a:defRPr>
                      </a:pPr>
                      <a:r>
                        <a:t>Transactional emails for booking confirmations, alerts &amp; org approvals.</a:t>
                      </a:r>
                    </a:p>
                  </a:txBody>
                  <a:tcPr>
                    <a:solidFill>
                      <a:srgbClr val="1E293B"/>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FOUR CORE FEATURE PANELS</a:t>
            </a:r>
          </a:p>
        </p:txBody>
      </p:sp>
      <p:sp>
        <p:nvSpPr>
          <p:cNvPr id="5" name="Rounded Rectangle 4"/>
          <p:cNvSpPr/>
          <p:nvPr/>
        </p:nvSpPr>
        <p:spPr>
          <a:xfrm>
            <a:off x="731520" y="1645920"/>
            <a:ext cx="521208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3B82F6"/>
                </a:solidFill>
              </a:defRPr>
            </a:pPr>
            <a:r>
              <a:t>👨‍💻 USER EXPERIENCE</a:t>
            </a:r>
          </a:p>
          <a:p>
            <a:pPr>
              <a:defRPr sz="1100">
                <a:solidFill>
                  <a:srgbClr val="FFFFFF"/>
                </a:solidFill>
              </a:defRPr>
            </a:pPr>
            <a:r>
              <a:t>• Activity-Based Intent Discovery</a:t>
            </a:r>
          </a:p>
          <a:p>
            <a:pPr>
              <a:defRPr sz="1100">
                <a:solidFill>
                  <a:srgbClr val="FFFFFF"/>
                </a:solidFill>
              </a:defRPr>
            </a:pPr>
            <a:r>
              <a:t>• Real-Time Occupancy Gauge</a:t>
            </a:r>
          </a:p>
          <a:p>
            <a:pPr>
              <a:defRPr sz="1100">
                <a:solidFill>
                  <a:srgbClr val="FFFFFF"/>
                </a:solidFill>
              </a:defRPr>
            </a:pPr>
            <a:r>
              <a:t>• Instant QR Check-In / Out</a:t>
            </a:r>
          </a:p>
          <a:p>
            <a:pPr>
              <a:defRPr sz="1100">
                <a:solidFill>
                  <a:srgbClr val="FFFFFF"/>
                </a:solidFill>
              </a:defRPr>
            </a:pPr>
            <a:r>
              <a:t>• Smart Alternative Suggestions</a:t>
            </a:r>
          </a:p>
          <a:p>
            <a:pPr>
              <a:defRPr sz="1100">
                <a:solidFill>
                  <a:srgbClr val="FFFFFF"/>
                </a:solidFill>
              </a:defRPr>
            </a:pPr>
            <a:r>
              <a:t>• Personal Booking History</a:t>
            </a:r>
          </a:p>
        </p:txBody>
      </p:sp>
      <p:sp>
        <p:nvSpPr>
          <p:cNvPr id="6" name="Rounded Rectangle 5"/>
          <p:cNvSpPr/>
          <p:nvPr/>
        </p:nvSpPr>
        <p:spPr>
          <a:xfrm>
            <a:off x="6172200" y="1645920"/>
            <a:ext cx="521208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6B6D4"/>
                </a:solidFill>
              </a:defRPr>
            </a:pPr>
            <a:r>
              <a:t>⚙️ FACILITY MANAGEMENT</a:t>
            </a:r>
          </a:p>
          <a:p>
            <a:pPr>
              <a:defRPr sz="1100">
                <a:solidFill>
                  <a:srgbClr val="FFFFFF"/>
                </a:solidFill>
              </a:defRPr>
            </a:pPr>
            <a:r>
              <a:t>• Facility Creation &amp; Slots</a:t>
            </a:r>
          </a:p>
          <a:p>
            <a:pPr>
              <a:defRPr sz="1100">
                <a:solidFill>
                  <a:srgbClr val="FFFFFF"/>
                </a:solidFill>
              </a:defRPr>
            </a:pPr>
            <a:r>
              <a:t>• Operating Hours &amp; Capacity Limits</a:t>
            </a:r>
          </a:p>
          <a:p>
            <a:pPr>
              <a:defRPr sz="1100">
                <a:solidFill>
                  <a:srgbClr val="FFFFFF"/>
                </a:solidFill>
              </a:defRPr>
            </a:pPr>
            <a:r>
              <a:t>• Custom Access Rule Configuration</a:t>
            </a:r>
          </a:p>
          <a:p>
            <a:pPr>
              <a:defRPr sz="1100">
                <a:solidFill>
                  <a:srgbClr val="FFFFFF"/>
                </a:solidFill>
              </a:defRPr>
            </a:pPr>
            <a:r>
              <a:t>• Maintenance Mode Toggles</a:t>
            </a:r>
          </a:p>
          <a:p>
            <a:pPr>
              <a:defRPr sz="1100">
                <a:solidFill>
                  <a:srgbClr val="FFFFFF"/>
                </a:solidFill>
              </a:defRPr>
            </a:pPr>
            <a:r>
              <a:t>• Organization Amenity Grouping</a:t>
            </a:r>
          </a:p>
        </p:txBody>
      </p:sp>
      <p:sp>
        <p:nvSpPr>
          <p:cNvPr id="7" name="Rounded Rectangle 6"/>
          <p:cNvSpPr/>
          <p:nvPr/>
        </p:nvSpPr>
        <p:spPr>
          <a:xfrm>
            <a:off x="731520" y="4023360"/>
            <a:ext cx="521208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0B981"/>
                </a:solidFill>
              </a:defRPr>
            </a:pPr>
            <a:r>
              <a:t>🧠 INTELLIGENCE ENGINE</a:t>
            </a:r>
          </a:p>
          <a:p>
            <a:pPr>
              <a:defRPr sz="1100">
                <a:solidFill>
                  <a:srgbClr val="FFFFFF"/>
                </a:solidFill>
              </a:defRPr>
            </a:pPr>
            <a:r>
              <a:t>• Crowd Trend Prediction</a:t>
            </a:r>
          </a:p>
          <a:p>
            <a:pPr>
              <a:defRPr sz="1100">
                <a:solidFill>
                  <a:srgbClr val="FFFFFF"/>
                </a:solidFill>
              </a:defRPr>
            </a:pPr>
            <a:r>
              <a:t>• Intent Matching Matrix</a:t>
            </a:r>
          </a:p>
          <a:p>
            <a:pPr>
              <a:defRPr sz="1100">
                <a:solidFill>
                  <a:srgbClr val="FFFFFF"/>
                </a:solidFill>
              </a:defRPr>
            </a:pPr>
            <a:r>
              <a:t>• No-Show Risk Scoring</a:t>
            </a:r>
          </a:p>
          <a:p>
            <a:pPr>
              <a:defRPr sz="1100">
                <a:solidFill>
                  <a:srgbClr val="FFFFFF"/>
                </a:solidFill>
              </a:defRPr>
            </a:pPr>
            <a:r>
              <a:t>• Underutilization Detection</a:t>
            </a:r>
          </a:p>
          <a:p>
            <a:pPr>
              <a:defRPr sz="1100">
                <a:solidFill>
                  <a:srgbClr val="FFFFFF"/>
                </a:solidFill>
              </a:defRPr>
            </a:pPr>
            <a:r>
              <a:t>• Automated Demand Smoothing</a:t>
            </a:r>
          </a:p>
        </p:txBody>
      </p:sp>
      <p:sp>
        <p:nvSpPr>
          <p:cNvPr id="8" name="Rounded Rectangle 7"/>
          <p:cNvSpPr/>
          <p:nvPr/>
        </p:nvSpPr>
        <p:spPr>
          <a:xfrm>
            <a:off x="6172200" y="4023360"/>
            <a:ext cx="521208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59E0B"/>
                </a:solidFill>
              </a:defRPr>
            </a:pPr>
            <a:r>
              <a:t>📊 ADMIN ANALYTICS</a:t>
            </a:r>
          </a:p>
          <a:p>
            <a:pPr>
              <a:defRPr sz="1100">
                <a:solidFill>
                  <a:srgbClr val="FFFFFF"/>
                </a:solidFill>
              </a:defRPr>
            </a:pPr>
            <a:r>
              <a:t>• Live Demand Radar Dashboard</a:t>
            </a:r>
          </a:p>
          <a:p>
            <a:pPr>
              <a:defRPr sz="1100">
                <a:solidFill>
                  <a:srgbClr val="FFFFFF"/>
                </a:solidFill>
              </a:defRPr>
            </a:pPr>
            <a:r>
              <a:t>• Facility Health &amp; Congestion Index</a:t>
            </a:r>
          </a:p>
          <a:p>
            <a:pPr>
              <a:defRPr sz="1100">
                <a:solidFill>
                  <a:srgbClr val="FFFFFF"/>
                </a:solidFill>
              </a:defRPr>
            </a:pPr>
            <a:r>
              <a:t>• Peak-Hour Traffic Heatmaps</a:t>
            </a:r>
          </a:p>
          <a:p>
            <a:pPr>
              <a:defRPr sz="1100">
                <a:solidFill>
                  <a:srgbClr val="FFFFFF"/>
                </a:solidFill>
              </a:defRPr>
            </a:pPr>
            <a:r>
              <a:t>• No-Show Penalty Tracking</a:t>
            </a:r>
          </a:p>
          <a:p>
            <a:pPr>
              <a:defRPr sz="1100">
                <a:solidFill>
                  <a:srgbClr val="FFFFFF"/>
                </a:solidFill>
              </a:defRPr>
            </a:pPr>
            <a:r>
              <a:t>• Utilization Metrics Reports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BENEFITS, IMPACT &amp; SYSTEM DIFFERENTIATION</a:t>
            </a:r>
          </a:p>
        </p:txBody>
      </p:sp>
      <p:sp>
        <p:nvSpPr>
          <p:cNvPr id="5" name="Rounded Rectangle 4"/>
          <p:cNvSpPr/>
          <p:nvPr/>
        </p:nvSpPr>
        <p:spPr>
          <a:xfrm>
            <a:off x="731520" y="1645920"/>
            <a:ext cx="521208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6B6D4"/>
                </a:solidFill>
              </a:defRPr>
            </a:pPr>
            <a:r>
              <a:t>🎯 BENEFIT TO USERS</a:t>
            </a:r>
          </a:p>
          <a:p>
            <a:pPr>
              <a:defRPr sz="1200">
                <a:solidFill>
                  <a:srgbClr val="FFFFFF"/>
                </a:solidFill>
              </a:defRPr>
            </a:pPr>
            <a:r>
              <a:t>• Effortless Decision-Making: Intent to recommendation in seconds.</a:t>
            </a:r>
          </a:p>
          <a:p>
            <a:pPr>
              <a:defRPr sz="1200">
                <a:solidFill>
                  <a:srgbClr val="FFFFFF"/>
                </a:solidFill>
              </a:defRPr>
            </a:pPr>
            <a:r>
              <a:t>• Elimination of Wasted Trips: No more arriving at overcrowded amenities.</a:t>
            </a:r>
          </a:p>
          <a:p>
            <a:pPr>
              <a:defRPr sz="1200">
                <a:solidFill>
                  <a:srgbClr val="FFFFFF"/>
                </a:solidFill>
              </a:defRPr>
            </a:pPr>
            <a:r>
              <a:t>• Smart Alternatives: Discover lesser-known amenities when main facilities are full.</a:t>
            </a:r>
          </a:p>
          <a:p>
            <a:pPr>
              <a:defRPr sz="1200">
                <a:solidFill>
                  <a:srgbClr val="FFFFFF"/>
                </a:solidFill>
              </a:defRPr>
            </a:pPr>
            <a:r>
              <a:t>• Seamless QR Check-In: Instant mobile access.</a:t>
            </a:r>
          </a:p>
        </p:txBody>
      </p:sp>
      <p:sp>
        <p:nvSpPr>
          <p:cNvPr id="6" name="Rounded Rectangle 5"/>
          <p:cNvSpPr/>
          <p:nvPr/>
        </p:nvSpPr>
        <p:spPr>
          <a:xfrm>
            <a:off x="6217920" y="1645920"/>
            <a:ext cx="521208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 BENEFIT TO ORGANIZATIONS</a:t>
            </a:r>
          </a:p>
          <a:p>
            <a:pPr>
              <a:defRPr sz="1200">
                <a:solidFill>
                  <a:srgbClr val="FFFFFF"/>
                </a:solidFill>
              </a:defRPr>
            </a:pPr>
            <a:r>
              <a:t>• Optimized Facility Utilization: Balances load across all amenities.</a:t>
            </a:r>
          </a:p>
          <a:p>
            <a:pPr>
              <a:defRPr sz="1200">
                <a:solidFill>
                  <a:srgbClr val="FFFFFF"/>
                </a:solidFill>
              </a:defRPr>
            </a:pPr>
            <a:r>
              <a:t>• Reduced Peak Congestion: Prevents dangerous overcrowding spikes.</a:t>
            </a:r>
          </a:p>
          <a:p>
            <a:pPr>
              <a:defRPr sz="1200">
                <a:solidFill>
                  <a:srgbClr val="FFFFFF"/>
                </a:solidFill>
              </a:defRPr>
            </a:pPr>
            <a:r>
              <a:t>• Reduction in No-Shows: Detects ghost bookings &amp; frees up slots.</a:t>
            </a:r>
          </a:p>
          <a:p>
            <a:pPr>
              <a:defRPr sz="1200">
                <a:solidFill>
                  <a:srgbClr val="FFFFFF"/>
                </a:solidFill>
              </a:defRPr>
            </a:pPr>
            <a:r>
              <a:t>• Data-Driven Infrastructure Planning: Real occupancy metrics for decision making.</a:t>
            </a:r>
          </a:p>
        </p:txBody>
      </p:sp>
      <p:sp>
        <p:nvSpPr>
          <p:cNvPr id="7" name="Rounded Rectangle 6"/>
          <p:cNvSpPr/>
          <p:nvPr/>
        </p:nvSpPr>
        <p:spPr>
          <a:xfrm>
            <a:off x="731520" y="4754880"/>
            <a:ext cx="10728655" cy="1645920"/>
          </a:xfrm>
          <a:prstGeom prst="roundRect">
            <a:avLst/>
          </a:prstGeom>
          <a:solidFill>
            <a:srgbClr val="0F172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SYSTEM DIFFERENTIATION</a:t>
            </a:r>
          </a:p>
          <a:p>
            <a:pPr>
              <a:defRPr sz="1300" b="1">
                <a:solidFill>
                  <a:srgbClr val="EF4444"/>
                </a:solidFill>
              </a:defRPr>
            </a:pPr>
            <a:r>
              <a:t>TRADITIONAL APPROACH: MANAGE ➔ BOOK ➔ REPORT (Static &amp; Reactive)</a:t>
            </a:r>
          </a:p>
          <a:p>
            <a:pPr>
              <a:defRPr sz="1400" b="1">
                <a:solidFill>
                  <a:srgbClr val="10B981"/>
                </a:solidFill>
              </a:defRPr>
            </a:pPr>
            <a:r>
              <a:t>LIVEAMENITY APPROACH: OBSERVE ➔ PREDICT ➔ RECOMMEND ➔ OPTIMIZE (Intelligent &amp; Proactive)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LIVEAMENITY | ACADEMIC PRESENTATION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defRPr>
            </a:pPr>
            <a:r>
              <a:t>ROADMAP, FUTURE SCOPE &amp; CONCLUSION</a:t>
            </a:r>
          </a:p>
        </p:txBody>
      </p:sp>
      <p:sp>
        <p:nvSpPr>
          <p:cNvPr id="5" name="Rounded Rectangle 4"/>
          <p:cNvSpPr/>
          <p:nvPr/>
        </p:nvSpPr>
        <p:spPr>
          <a:xfrm>
            <a:off x="731520" y="1645920"/>
            <a:ext cx="5212080"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6B6D4"/>
                </a:solidFill>
              </a:defRPr>
            </a:pPr>
            <a:r>
              <a:t>🚀 IMPLEMENTATION ROADMAP</a:t>
            </a:r>
          </a:p>
          <a:p>
            <a:pPr>
              <a:defRPr sz="1100">
                <a:solidFill>
                  <a:srgbClr val="FFFFFF"/>
                </a:solidFill>
              </a:defRPr>
            </a:pPr>
            <a:r>
              <a:t>• Phase 1: Core Multi-Tenant Architecture &amp; Auth (Clerk)</a:t>
            </a:r>
          </a:p>
          <a:p>
            <a:pPr>
              <a:defRPr sz="1100">
                <a:solidFill>
                  <a:srgbClr val="FFFFFF"/>
                </a:solidFill>
              </a:defRPr>
            </a:pPr>
            <a:r>
              <a:t>• Phase 2: Facility CRUD &amp; Static Booking Engine</a:t>
            </a:r>
          </a:p>
          <a:p>
            <a:pPr>
              <a:defRPr sz="1100">
                <a:solidFill>
                  <a:srgbClr val="FFFFFF"/>
                </a:solidFill>
              </a:defRPr>
            </a:pPr>
            <a:r>
              <a:t>• Phase 3: Smart QR Check-In &amp; Live Occupancy Counters</a:t>
            </a:r>
          </a:p>
          <a:p>
            <a:pPr>
              <a:defRPr sz="1100">
                <a:solidFill>
                  <a:srgbClr val="FFFFFF"/>
                </a:solidFill>
              </a:defRPr>
            </a:pPr>
            <a:r>
              <a:t>• Phase 4: Intent-Based Recommendation Matrix</a:t>
            </a:r>
          </a:p>
          <a:p>
            <a:pPr>
              <a:defRPr sz="1100">
                <a:solidFill>
                  <a:srgbClr val="FFFFFF"/>
                </a:solidFill>
              </a:defRPr>
            </a:pPr>
            <a:r>
              <a:t>• Phase 5: Admin Demand Radar &amp; Congestion Analytics</a:t>
            </a:r>
          </a:p>
          <a:p>
            <a:pPr>
              <a:defRPr sz="1100">
                <a:solidFill>
                  <a:srgbClr val="FFFFFF"/>
                </a:solidFill>
              </a:defRPr>
            </a:pPr>
            <a:r>
              <a:t>• Phase 6 (Future): ML Crowd Time-Series Prediction Model</a:t>
            </a:r>
          </a:p>
          <a:p>
            <a:pPr>
              <a:defRPr sz="1100">
                <a:solidFill>
                  <a:srgbClr val="FFFFFF"/>
                </a:solidFill>
              </a:defRPr>
            </a:pPr>
            <a:r>
              <a:t>• Phase 7 (Future): IoT Turnstile &amp; Sensor Hardware Integration</a:t>
            </a:r>
          </a:p>
        </p:txBody>
      </p:sp>
      <p:sp>
        <p:nvSpPr>
          <p:cNvPr id="6" name="Rounded Rectangle 5"/>
          <p:cNvSpPr/>
          <p:nvPr/>
        </p:nvSpPr>
        <p:spPr>
          <a:xfrm>
            <a:off x="6217920" y="1645920"/>
            <a:ext cx="5212080" cy="402336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 FUTURE SCOPE &amp; CONCLUSION</a:t>
            </a:r>
          </a:p>
          <a:p>
            <a:pPr>
              <a:defRPr sz="1100">
                <a:solidFill>
                  <a:srgbClr val="FFFFFF"/>
                </a:solidFill>
              </a:defRPr>
            </a:pPr>
            <a:r>
              <a:t>Future Scope:</a:t>
            </a:r>
            <a:br/>
            <a:r>
              <a:t>• Natural Language AI Concierge for facility discovery</a:t>
            </a:r>
            <a:br/>
            <a:r>
              <a:t>• Computer Vision crowd counting at entrance gates</a:t>
            </a:r>
            <a:br/>
            <a:r>
              <a:t>• Gamified usage rewards during off-peak hours</a:t>
            </a:r>
          </a:p>
          <a:p>
            <a:br/>
            <a:pPr>
              <a:defRPr sz="1400" b="1">
                <a:solidFill>
                  <a:srgbClr val="F59E0B"/>
                </a:solidFill>
              </a:defRPr>
            </a:pPr>
            <a:r>
              <a:t>CONCLUSION:</a:t>
            </a:r>
          </a:p>
          <a:p>
            <a:pPr>
              <a:defRPr sz="1300" b="1">
                <a:solidFill>
                  <a:srgbClr val="FFFFFF"/>
                </a:solidFill>
              </a:defRPr>
            </a:pPr>
            <a:r>
              <a:t>“LiveAmenity does not simply tell users what is available. It helps them decide what is best.”</a:t>
            </a:r>
            <a:br/>
            <a:br/>
            <a:r>
              <a:t>OBSERVE ➔ PREDICT ➔ RECOMMEND ➔ OPTIMIZE</a:t>
            </a:r>
          </a:p>
        </p:txBody>
      </p:sp>
      <p:sp>
        <p:nvSpPr>
          <p:cNvPr id="7" name="Rounded Rectangle 6"/>
          <p:cNvSpPr/>
          <p:nvPr/>
        </p:nvSpPr>
        <p:spPr>
          <a:xfrm>
            <a:off x="731520" y="5852160"/>
            <a:ext cx="10728655" cy="54864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897880"/>
            <a:ext cx="10515600" cy="457200"/>
          </a:xfrm>
          <a:prstGeom prst="rect">
            <a:avLst/>
          </a:prstGeom>
          <a:noFill/>
        </p:spPr>
        <p:txBody>
          <a:bodyPr wrap="none">
            <a:spAutoFit/>
          </a:bodyPr>
          <a:lstStyle/>
          <a:p>
            <a:pPr algn="ctr">
              <a:defRPr sz="1400" b="1">
                <a:solidFill>
                  <a:srgbClr val="FFFFFF"/>
                </a:solidFill>
              </a:defRPr>
            </a:pPr>
            <a:r>
              <a:t>THANK YOU!  |  OPEN FOR QUESTIONS &amp; PROFESSOR FEEDBACK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